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Montserrat" panose="00000500000000000000" pitchFamily="2" charset="0"/>
      <p:regular r:id="rId21"/>
    </p:embeddedFont>
    <p:embeddedFont>
      <p:font typeface="Montserrat Bold" panose="020B0604020202020204" charset="0"/>
      <p:regular r:id="rId22"/>
    </p:embeddedFont>
    <p:embeddedFont>
      <p:font typeface="Open Sans" panose="020B0606030504020204" pitchFamily="34" charset="0"/>
      <p:regular r:id="rId23"/>
    </p:embeddedFont>
    <p:embeddedFont>
      <p:font typeface="Open Sans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17.sv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6.sv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6.sv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svg"/><Relationship Id="rId7"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6.sv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6.sv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500301" y="1844193"/>
            <a:ext cx="10875912" cy="4490093"/>
          </a:xfrm>
          <a:custGeom>
            <a:avLst/>
            <a:gdLst/>
            <a:ahLst/>
            <a:cxnLst/>
            <a:rect l="l" t="t" r="r" b="b"/>
            <a:pathLst>
              <a:path w="10875912" h="4490093">
                <a:moveTo>
                  <a:pt x="0" y="0"/>
                </a:moveTo>
                <a:lnTo>
                  <a:pt x="10875912" y="0"/>
                </a:lnTo>
                <a:lnTo>
                  <a:pt x="10875912" y="4490093"/>
                </a:lnTo>
                <a:lnTo>
                  <a:pt x="0" y="44900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3908889" y="6915860"/>
            <a:ext cx="7315200" cy="1765792"/>
          </a:xfrm>
          <a:custGeom>
            <a:avLst/>
            <a:gdLst/>
            <a:ahLst/>
            <a:cxnLst/>
            <a:rect l="l" t="t" r="r" b="b"/>
            <a:pathLst>
              <a:path w="7315200" h="1765792">
                <a:moveTo>
                  <a:pt x="0" y="0"/>
                </a:moveTo>
                <a:lnTo>
                  <a:pt x="7315200" y="0"/>
                </a:lnTo>
                <a:lnTo>
                  <a:pt x="7315200" y="1765793"/>
                </a:lnTo>
                <a:lnTo>
                  <a:pt x="0" y="17657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4" name="Freeform 4"/>
          <p:cNvSpPr/>
          <p:nvPr/>
        </p:nvSpPr>
        <p:spPr>
          <a:xfrm>
            <a:off x="9508680" y="1028700"/>
            <a:ext cx="8431142" cy="9380965"/>
          </a:xfrm>
          <a:custGeom>
            <a:avLst/>
            <a:gdLst/>
            <a:ahLst/>
            <a:cxnLst/>
            <a:rect l="l" t="t" r="r" b="b"/>
            <a:pathLst>
              <a:path w="8431142" h="9380965">
                <a:moveTo>
                  <a:pt x="0" y="0"/>
                </a:moveTo>
                <a:lnTo>
                  <a:pt x="8431142" y="0"/>
                </a:lnTo>
                <a:lnTo>
                  <a:pt x="8431142" y="9380965"/>
                </a:lnTo>
                <a:lnTo>
                  <a:pt x="0" y="9380965"/>
                </a:lnTo>
                <a:lnTo>
                  <a:pt x="0" y="0"/>
                </a:lnTo>
                <a:close/>
              </a:path>
            </a:pathLst>
          </a:custGeom>
          <a:blipFill>
            <a:blip r:embed="rId6"/>
            <a:stretch>
              <a:fillRect/>
            </a:stretch>
          </a:blipFill>
        </p:spPr>
        <p:txBody>
          <a:bodyPr/>
          <a:lstStyle/>
          <a:p>
            <a:endParaRPr lang="en-CA"/>
          </a:p>
        </p:txBody>
      </p:sp>
      <p:sp>
        <p:nvSpPr>
          <p:cNvPr id="5" name="Freeform 5"/>
          <p:cNvSpPr/>
          <p:nvPr/>
        </p:nvSpPr>
        <p:spPr>
          <a:xfrm>
            <a:off x="10084971" y="1844193"/>
            <a:ext cx="3202964" cy="838594"/>
          </a:xfrm>
          <a:custGeom>
            <a:avLst/>
            <a:gdLst/>
            <a:ahLst/>
            <a:cxnLst/>
            <a:rect l="l" t="t" r="r" b="b"/>
            <a:pathLst>
              <a:path w="3202964" h="838594">
                <a:moveTo>
                  <a:pt x="0" y="0"/>
                </a:moveTo>
                <a:lnTo>
                  <a:pt x="3202963" y="0"/>
                </a:lnTo>
                <a:lnTo>
                  <a:pt x="3202963" y="838594"/>
                </a:lnTo>
                <a:lnTo>
                  <a:pt x="0" y="8385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CA"/>
          </a:p>
        </p:txBody>
      </p:sp>
      <p:sp>
        <p:nvSpPr>
          <p:cNvPr id="6" name="TextBox 6"/>
          <p:cNvSpPr txBox="1"/>
          <p:nvPr/>
        </p:nvSpPr>
        <p:spPr>
          <a:xfrm>
            <a:off x="1028700" y="2386078"/>
            <a:ext cx="7895920" cy="3511097"/>
          </a:xfrm>
          <a:prstGeom prst="rect">
            <a:avLst/>
          </a:prstGeom>
        </p:spPr>
        <p:txBody>
          <a:bodyPr lIns="0" tIns="0" rIns="0" bIns="0" rtlCol="0" anchor="t">
            <a:spAutoFit/>
          </a:bodyPr>
          <a:lstStyle/>
          <a:p>
            <a:pPr algn="l">
              <a:lnSpc>
                <a:spcPts val="9192"/>
              </a:lnSpc>
            </a:pPr>
            <a:r>
              <a:rPr lang="en-US" sz="8511" b="1" dirty="0">
                <a:solidFill>
                  <a:srgbClr val="000000"/>
                </a:solidFill>
                <a:latin typeface="Montserrat Bold"/>
                <a:ea typeface="Montserrat Bold"/>
                <a:cs typeface="Montserrat Bold"/>
                <a:sym typeface="Montserrat Bold"/>
              </a:rPr>
              <a:t>THE NATURE OF SMALL BUSINESS</a:t>
            </a:r>
          </a:p>
        </p:txBody>
      </p:sp>
      <p:sp>
        <p:nvSpPr>
          <p:cNvPr id="7" name="TextBox 7"/>
          <p:cNvSpPr txBox="1"/>
          <p:nvPr/>
        </p:nvSpPr>
        <p:spPr>
          <a:xfrm>
            <a:off x="4765707" y="7513007"/>
            <a:ext cx="4269961" cy="514350"/>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Montserrat Bold"/>
                <a:ea typeface="Montserrat Bold"/>
                <a:cs typeface="Montserrat Bold"/>
                <a:sym typeface="Montserrat Bold"/>
              </a:rPr>
              <a:t>By Group 1</a:t>
            </a:r>
          </a:p>
        </p:txBody>
      </p:sp>
      <p:sp>
        <p:nvSpPr>
          <p:cNvPr id="8" name="TextBox 8"/>
          <p:cNvSpPr txBox="1"/>
          <p:nvPr/>
        </p:nvSpPr>
        <p:spPr>
          <a:xfrm>
            <a:off x="10366591" y="1977740"/>
            <a:ext cx="2501237" cy="514350"/>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Montserrat Bold"/>
                <a:ea typeface="Montserrat Bold"/>
                <a:cs typeface="Montserrat Bold"/>
                <a:sym typeface="Montserrat Bold"/>
              </a:rPr>
              <a:t>Business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1654019" y="381183"/>
            <a:ext cx="10913928" cy="2634477"/>
          </a:xfrm>
          <a:custGeom>
            <a:avLst/>
            <a:gdLst/>
            <a:ahLst/>
            <a:cxnLst/>
            <a:rect l="l" t="t" r="r" b="b"/>
            <a:pathLst>
              <a:path w="10913928" h="2634477">
                <a:moveTo>
                  <a:pt x="0" y="0"/>
                </a:moveTo>
                <a:lnTo>
                  <a:pt x="10913928" y="0"/>
                </a:lnTo>
                <a:lnTo>
                  <a:pt x="10913928" y="2634477"/>
                </a:lnTo>
                <a:lnTo>
                  <a:pt x="0" y="2634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TextBox 3"/>
          <p:cNvSpPr txBox="1"/>
          <p:nvPr/>
        </p:nvSpPr>
        <p:spPr>
          <a:xfrm>
            <a:off x="2651750" y="1034846"/>
            <a:ext cx="9485964" cy="1193800"/>
          </a:xfrm>
          <a:prstGeom prst="rect">
            <a:avLst/>
          </a:prstGeom>
        </p:spPr>
        <p:txBody>
          <a:bodyPr lIns="0" tIns="0" rIns="0" bIns="0" rtlCol="0" anchor="t">
            <a:spAutoFit/>
          </a:bodyPr>
          <a:lstStyle/>
          <a:p>
            <a:pPr algn="l">
              <a:lnSpc>
                <a:spcPts val="9799"/>
              </a:lnSpc>
              <a:spcBef>
                <a:spcPct val="0"/>
              </a:spcBef>
            </a:pPr>
            <a:r>
              <a:rPr lang="en-US" sz="6999">
                <a:solidFill>
                  <a:srgbClr val="000000"/>
                </a:solidFill>
                <a:latin typeface="Montserrat"/>
                <a:ea typeface="Montserrat"/>
                <a:cs typeface="Montserrat"/>
                <a:sym typeface="Montserrat"/>
              </a:rPr>
              <a:t>INTRODUCTION</a:t>
            </a:r>
          </a:p>
        </p:txBody>
      </p:sp>
      <p:sp>
        <p:nvSpPr>
          <p:cNvPr id="4" name="TextBox 4"/>
          <p:cNvSpPr txBox="1"/>
          <p:nvPr/>
        </p:nvSpPr>
        <p:spPr>
          <a:xfrm>
            <a:off x="2985099" y="3526114"/>
            <a:ext cx="14116476" cy="6159501"/>
          </a:xfrm>
          <a:prstGeom prst="rect">
            <a:avLst/>
          </a:prstGeom>
        </p:spPr>
        <p:txBody>
          <a:bodyPr lIns="0" tIns="0" rIns="0" bIns="0" rtlCol="0" anchor="t">
            <a:spAutoFit/>
          </a:bodyPr>
          <a:lstStyle/>
          <a:p>
            <a:pPr algn="l">
              <a:lnSpc>
                <a:spcPts val="4899"/>
              </a:lnSpc>
            </a:pPr>
            <a:r>
              <a:rPr lang="en-US" sz="3499">
                <a:solidFill>
                  <a:srgbClr val="000000"/>
                </a:solidFill>
                <a:latin typeface="Open Sans"/>
                <a:ea typeface="Open Sans"/>
                <a:cs typeface="Open Sans"/>
                <a:sym typeface="Open Sans"/>
              </a:rPr>
              <a:t>A small business can be defined in two ways: through market share or total assets.</a:t>
            </a:r>
          </a:p>
          <a:p>
            <a:pPr marL="755644" lvl="1" indent="-377822" algn="l">
              <a:lnSpc>
                <a:spcPts val="4899"/>
              </a:lnSpc>
              <a:buFont typeface="Arial"/>
              <a:buChar char="•"/>
            </a:pPr>
            <a:r>
              <a:rPr lang="en-US" sz="3499">
                <a:solidFill>
                  <a:srgbClr val="000000"/>
                </a:solidFill>
                <a:latin typeface="Open Sans"/>
                <a:ea typeface="Open Sans"/>
                <a:cs typeface="Open Sans"/>
                <a:sym typeface="Open Sans"/>
              </a:rPr>
              <a:t>Under the market share approach, a small business is one that is independently owned, not dominant in its field, and controls less than one percent of the total demand for its products.</a:t>
            </a:r>
          </a:p>
          <a:p>
            <a:pPr marL="755644" lvl="1" indent="-377822" algn="l">
              <a:lnSpc>
                <a:spcPts val="4899"/>
              </a:lnSpc>
              <a:spcBef>
                <a:spcPct val="0"/>
              </a:spcBef>
              <a:buFont typeface="Arial"/>
              <a:buChar char="•"/>
            </a:pPr>
            <a:r>
              <a:rPr lang="en-US" sz="3499">
                <a:solidFill>
                  <a:srgbClr val="000000"/>
                </a:solidFill>
                <a:latin typeface="Open Sans"/>
                <a:ea typeface="Open Sans"/>
                <a:cs typeface="Open Sans"/>
                <a:sym typeface="Open Sans"/>
              </a:rPr>
              <a:t>Under the total assets approach, the Magna Carta for Small Enterprises defines small businesses as those with assets between ₱1.5 million and ₱15 million, while those below ₱1.5 million are considered microenterprises.</a:t>
            </a:r>
          </a:p>
          <a:p>
            <a:pPr algn="l">
              <a:lnSpc>
                <a:spcPts val="4899"/>
              </a:lnSpc>
              <a:spcBef>
                <a:spcPct val="0"/>
              </a:spcBef>
            </a:pPr>
            <a:endParaRPr lang="en-US" sz="3499">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1654019" y="381183"/>
            <a:ext cx="10913928" cy="2634477"/>
          </a:xfrm>
          <a:custGeom>
            <a:avLst/>
            <a:gdLst/>
            <a:ahLst/>
            <a:cxnLst/>
            <a:rect l="l" t="t" r="r" b="b"/>
            <a:pathLst>
              <a:path w="10913928" h="2634477">
                <a:moveTo>
                  <a:pt x="0" y="0"/>
                </a:moveTo>
                <a:lnTo>
                  <a:pt x="10913928" y="0"/>
                </a:lnTo>
                <a:lnTo>
                  <a:pt x="10913928" y="2634477"/>
                </a:lnTo>
                <a:lnTo>
                  <a:pt x="0" y="2634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3830734" y="3215572"/>
            <a:ext cx="12175190" cy="6407994"/>
          </a:xfrm>
          <a:custGeom>
            <a:avLst/>
            <a:gdLst/>
            <a:ahLst/>
            <a:cxnLst/>
            <a:rect l="l" t="t" r="r" b="b"/>
            <a:pathLst>
              <a:path w="12175190" h="6407994">
                <a:moveTo>
                  <a:pt x="0" y="0"/>
                </a:moveTo>
                <a:lnTo>
                  <a:pt x="12175190" y="0"/>
                </a:lnTo>
                <a:lnTo>
                  <a:pt x="12175190" y="6407994"/>
                </a:lnTo>
                <a:lnTo>
                  <a:pt x="0" y="6407994"/>
                </a:lnTo>
                <a:lnTo>
                  <a:pt x="0" y="0"/>
                </a:lnTo>
                <a:close/>
              </a:path>
            </a:pathLst>
          </a:custGeom>
          <a:blipFill>
            <a:blip r:embed="rId4"/>
            <a:stretch>
              <a:fillRect l="-5688" r="-9358"/>
            </a:stretch>
          </a:blipFill>
        </p:spPr>
        <p:txBody>
          <a:bodyPr/>
          <a:lstStyle/>
          <a:p>
            <a:endParaRPr lang="en-CA"/>
          </a:p>
        </p:txBody>
      </p:sp>
      <p:sp>
        <p:nvSpPr>
          <p:cNvPr id="4" name="TextBox 4"/>
          <p:cNvSpPr txBox="1"/>
          <p:nvPr/>
        </p:nvSpPr>
        <p:spPr>
          <a:xfrm>
            <a:off x="2651750" y="1034846"/>
            <a:ext cx="9485964" cy="1193800"/>
          </a:xfrm>
          <a:prstGeom prst="rect">
            <a:avLst/>
          </a:prstGeom>
        </p:spPr>
        <p:txBody>
          <a:bodyPr lIns="0" tIns="0" rIns="0" bIns="0" rtlCol="0" anchor="t">
            <a:spAutoFit/>
          </a:bodyPr>
          <a:lstStyle/>
          <a:p>
            <a:pPr algn="l">
              <a:lnSpc>
                <a:spcPts val="9799"/>
              </a:lnSpc>
              <a:spcBef>
                <a:spcPct val="0"/>
              </a:spcBef>
            </a:pPr>
            <a:r>
              <a:rPr lang="en-US" sz="6999">
                <a:solidFill>
                  <a:srgbClr val="000000"/>
                </a:solidFill>
                <a:latin typeface="Montserrat"/>
                <a:ea typeface="Montserrat"/>
                <a:cs typeface="Montserrat"/>
                <a:sym typeface="Montserrat"/>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0" y="-2509211"/>
            <a:ext cx="12711449" cy="11767511"/>
          </a:xfrm>
          <a:custGeom>
            <a:avLst/>
            <a:gdLst/>
            <a:ahLst/>
            <a:cxnLst/>
            <a:rect l="l" t="t" r="r" b="b"/>
            <a:pathLst>
              <a:path w="12711449" h="11767511">
                <a:moveTo>
                  <a:pt x="0" y="0"/>
                </a:moveTo>
                <a:lnTo>
                  <a:pt x="12711449" y="0"/>
                </a:lnTo>
                <a:lnTo>
                  <a:pt x="12711449" y="11767511"/>
                </a:lnTo>
                <a:lnTo>
                  <a:pt x="0" y="117675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688260" y="330281"/>
            <a:ext cx="10913928" cy="2634477"/>
          </a:xfrm>
          <a:custGeom>
            <a:avLst/>
            <a:gdLst/>
            <a:ahLst/>
            <a:cxnLst/>
            <a:rect l="l" t="t" r="r" b="b"/>
            <a:pathLst>
              <a:path w="10913928" h="2634477">
                <a:moveTo>
                  <a:pt x="0" y="0"/>
                </a:moveTo>
                <a:lnTo>
                  <a:pt x="10913928" y="0"/>
                </a:lnTo>
                <a:lnTo>
                  <a:pt x="10913928" y="2634477"/>
                </a:lnTo>
                <a:lnTo>
                  <a:pt x="0" y="26344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4" name="TextBox 4"/>
          <p:cNvSpPr txBox="1"/>
          <p:nvPr/>
        </p:nvSpPr>
        <p:spPr>
          <a:xfrm>
            <a:off x="1362216" y="371549"/>
            <a:ext cx="9060313" cy="2147567"/>
          </a:xfrm>
          <a:prstGeom prst="rect">
            <a:avLst/>
          </a:prstGeom>
        </p:spPr>
        <p:txBody>
          <a:bodyPr lIns="0" tIns="0" rIns="0" bIns="0" rtlCol="0" anchor="t">
            <a:spAutoFit/>
          </a:bodyPr>
          <a:lstStyle/>
          <a:p>
            <a:pPr algn="l">
              <a:lnSpc>
                <a:spcPts val="8680"/>
              </a:lnSpc>
            </a:pPr>
            <a:r>
              <a:rPr lang="en-US" sz="6200">
                <a:solidFill>
                  <a:srgbClr val="000000"/>
                </a:solidFill>
                <a:latin typeface="Montserrat"/>
                <a:ea typeface="Montserrat"/>
                <a:cs typeface="Montserrat"/>
                <a:sym typeface="Montserrat"/>
              </a:rPr>
              <a:t>WHAT IS A </a:t>
            </a:r>
          </a:p>
          <a:p>
            <a:pPr algn="l">
              <a:lnSpc>
                <a:spcPts val="8680"/>
              </a:lnSpc>
              <a:spcBef>
                <a:spcPct val="0"/>
              </a:spcBef>
            </a:pPr>
            <a:r>
              <a:rPr lang="en-US" sz="6200">
                <a:solidFill>
                  <a:srgbClr val="000000"/>
                </a:solidFill>
                <a:latin typeface="Montserrat"/>
                <a:ea typeface="Montserrat"/>
                <a:cs typeface="Montserrat"/>
                <a:sym typeface="Montserrat"/>
              </a:rPr>
              <a:t>SMALL BUSINESS</a:t>
            </a:r>
          </a:p>
        </p:txBody>
      </p:sp>
      <p:sp>
        <p:nvSpPr>
          <p:cNvPr id="5" name="TextBox 5"/>
          <p:cNvSpPr txBox="1"/>
          <p:nvPr/>
        </p:nvSpPr>
        <p:spPr>
          <a:xfrm>
            <a:off x="3142824" y="3098799"/>
            <a:ext cx="14116476" cy="6159501"/>
          </a:xfrm>
          <a:prstGeom prst="rect">
            <a:avLst/>
          </a:prstGeom>
        </p:spPr>
        <p:txBody>
          <a:bodyPr lIns="0" tIns="0" rIns="0" bIns="0" rtlCol="0" anchor="t">
            <a:spAutoFit/>
          </a:bodyPr>
          <a:lstStyle/>
          <a:p>
            <a:pPr algn="l">
              <a:lnSpc>
                <a:spcPts val="4899"/>
              </a:lnSpc>
            </a:pPr>
            <a:r>
              <a:rPr lang="en-US" sz="3499">
                <a:solidFill>
                  <a:srgbClr val="000000"/>
                </a:solidFill>
                <a:latin typeface="Open Sans"/>
                <a:ea typeface="Open Sans"/>
                <a:cs typeface="Open Sans"/>
                <a:sym typeface="Open Sans"/>
              </a:rPr>
              <a:t>A small business can be defined in two ways: through market share or total assets.</a:t>
            </a:r>
          </a:p>
          <a:p>
            <a:pPr marL="755644" lvl="1" indent="-377822" algn="l">
              <a:lnSpc>
                <a:spcPts val="4899"/>
              </a:lnSpc>
              <a:buFont typeface="Arial"/>
              <a:buChar char="•"/>
            </a:pPr>
            <a:r>
              <a:rPr lang="en-US" sz="3499">
                <a:solidFill>
                  <a:srgbClr val="000000"/>
                </a:solidFill>
                <a:latin typeface="Open Sans"/>
                <a:ea typeface="Open Sans"/>
                <a:cs typeface="Open Sans"/>
                <a:sym typeface="Open Sans"/>
              </a:rPr>
              <a:t>Under the market share approach, a small business is one that is independently owned, not dominant in its field, and controls less than one percent of the total demand for its products.</a:t>
            </a:r>
          </a:p>
          <a:p>
            <a:pPr marL="755644" lvl="1" indent="-377822" algn="l">
              <a:lnSpc>
                <a:spcPts val="4899"/>
              </a:lnSpc>
              <a:spcBef>
                <a:spcPct val="0"/>
              </a:spcBef>
              <a:buFont typeface="Arial"/>
              <a:buChar char="•"/>
            </a:pPr>
            <a:r>
              <a:rPr lang="en-US" sz="3499">
                <a:solidFill>
                  <a:srgbClr val="000000"/>
                </a:solidFill>
                <a:latin typeface="Open Sans"/>
                <a:ea typeface="Open Sans"/>
                <a:cs typeface="Open Sans"/>
                <a:sym typeface="Open Sans"/>
              </a:rPr>
              <a:t>Under the total assets approach, the Magna Carta for Small Enterprises defines small businesses as those with assets between ₱1.5 million and ₱15 million, while those below ₱1.5 million are considered microenterprises.</a:t>
            </a:r>
          </a:p>
          <a:p>
            <a:pPr algn="l">
              <a:lnSpc>
                <a:spcPts val="4899"/>
              </a:lnSpc>
              <a:spcBef>
                <a:spcPct val="0"/>
              </a:spcBef>
            </a:pPr>
            <a:endParaRPr lang="en-US" sz="3499">
              <a:solidFill>
                <a:srgbClr val="000000"/>
              </a:solidFill>
              <a:latin typeface="Open Sans"/>
              <a:ea typeface="Open Sans"/>
              <a:cs typeface="Open Sans"/>
              <a:sym typeface="Open Sans"/>
            </a:endParaRPr>
          </a:p>
        </p:txBody>
      </p:sp>
      <p:sp>
        <p:nvSpPr>
          <p:cNvPr id="6" name="Freeform 6"/>
          <p:cNvSpPr/>
          <p:nvPr/>
        </p:nvSpPr>
        <p:spPr>
          <a:xfrm>
            <a:off x="1150681" y="3374545"/>
            <a:ext cx="1408083" cy="5062355"/>
          </a:xfrm>
          <a:custGeom>
            <a:avLst/>
            <a:gdLst/>
            <a:ahLst/>
            <a:cxnLst/>
            <a:rect l="l" t="t" r="r" b="b"/>
            <a:pathLst>
              <a:path w="1408083" h="5062355">
                <a:moveTo>
                  <a:pt x="0" y="0"/>
                </a:moveTo>
                <a:lnTo>
                  <a:pt x="1408083" y="0"/>
                </a:lnTo>
                <a:lnTo>
                  <a:pt x="1408083" y="5062355"/>
                </a:lnTo>
                <a:lnTo>
                  <a:pt x="0" y="506235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0" y="-2509211"/>
            <a:ext cx="12711449" cy="11767511"/>
          </a:xfrm>
          <a:custGeom>
            <a:avLst/>
            <a:gdLst/>
            <a:ahLst/>
            <a:cxnLst/>
            <a:rect l="l" t="t" r="r" b="b"/>
            <a:pathLst>
              <a:path w="12711449" h="11767511">
                <a:moveTo>
                  <a:pt x="0" y="0"/>
                </a:moveTo>
                <a:lnTo>
                  <a:pt x="12711449" y="0"/>
                </a:lnTo>
                <a:lnTo>
                  <a:pt x="12711449" y="11767511"/>
                </a:lnTo>
                <a:lnTo>
                  <a:pt x="0" y="117675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688260" y="330281"/>
            <a:ext cx="10913928" cy="2634477"/>
          </a:xfrm>
          <a:custGeom>
            <a:avLst/>
            <a:gdLst/>
            <a:ahLst/>
            <a:cxnLst/>
            <a:rect l="l" t="t" r="r" b="b"/>
            <a:pathLst>
              <a:path w="10913928" h="2634477">
                <a:moveTo>
                  <a:pt x="0" y="0"/>
                </a:moveTo>
                <a:lnTo>
                  <a:pt x="10913928" y="0"/>
                </a:lnTo>
                <a:lnTo>
                  <a:pt x="10913928" y="2634477"/>
                </a:lnTo>
                <a:lnTo>
                  <a:pt x="0" y="26344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4" name="Freeform 4"/>
          <p:cNvSpPr/>
          <p:nvPr/>
        </p:nvSpPr>
        <p:spPr>
          <a:xfrm>
            <a:off x="1150681" y="3374545"/>
            <a:ext cx="1408083" cy="5062355"/>
          </a:xfrm>
          <a:custGeom>
            <a:avLst/>
            <a:gdLst/>
            <a:ahLst/>
            <a:cxnLst/>
            <a:rect l="l" t="t" r="r" b="b"/>
            <a:pathLst>
              <a:path w="1408083" h="5062355">
                <a:moveTo>
                  <a:pt x="0" y="0"/>
                </a:moveTo>
                <a:lnTo>
                  <a:pt x="1408083" y="0"/>
                </a:lnTo>
                <a:lnTo>
                  <a:pt x="1408083" y="5062355"/>
                </a:lnTo>
                <a:lnTo>
                  <a:pt x="0" y="506235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5" name="Freeform 5"/>
          <p:cNvSpPr/>
          <p:nvPr/>
        </p:nvSpPr>
        <p:spPr>
          <a:xfrm>
            <a:off x="5735688" y="3131063"/>
            <a:ext cx="9251941" cy="6780802"/>
          </a:xfrm>
          <a:custGeom>
            <a:avLst/>
            <a:gdLst/>
            <a:ahLst/>
            <a:cxnLst/>
            <a:rect l="l" t="t" r="r" b="b"/>
            <a:pathLst>
              <a:path w="9251941" h="6780802">
                <a:moveTo>
                  <a:pt x="0" y="0"/>
                </a:moveTo>
                <a:lnTo>
                  <a:pt x="9251941" y="0"/>
                </a:lnTo>
                <a:lnTo>
                  <a:pt x="9251941" y="6780802"/>
                </a:lnTo>
                <a:lnTo>
                  <a:pt x="0" y="6780802"/>
                </a:lnTo>
                <a:lnTo>
                  <a:pt x="0" y="0"/>
                </a:lnTo>
                <a:close/>
              </a:path>
            </a:pathLst>
          </a:custGeom>
          <a:blipFill>
            <a:blip r:embed="rId8"/>
            <a:stretch>
              <a:fillRect l="-2193" r="-3508"/>
            </a:stretch>
          </a:blipFill>
        </p:spPr>
        <p:txBody>
          <a:bodyPr/>
          <a:lstStyle/>
          <a:p>
            <a:endParaRPr lang="en-CA"/>
          </a:p>
        </p:txBody>
      </p:sp>
      <p:sp>
        <p:nvSpPr>
          <p:cNvPr id="6" name="TextBox 6"/>
          <p:cNvSpPr txBox="1"/>
          <p:nvPr/>
        </p:nvSpPr>
        <p:spPr>
          <a:xfrm>
            <a:off x="1362216" y="371549"/>
            <a:ext cx="9060313" cy="2147567"/>
          </a:xfrm>
          <a:prstGeom prst="rect">
            <a:avLst/>
          </a:prstGeom>
        </p:spPr>
        <p:txBody>
          <a:bodyPr lIns="0" tIns="0" rIns="0" bIns="0" rtlCol="0" anchor="t">
            <a:spAutoFit/>
          </a:bodyPr>
          <a:lstStyle/>
          <a:p>
            <a:pPr algn="l">
              <a:lnSpc>
                <a:spcPts val="8680"/>
              </a:lnSpc>
            </a:pPr>
            <a:r>
              <a:rPr lang="en-US" sz="6200">
                <a:solidFill>
                  <a:srgbClr val="000000"/>
                </a:solidFill>
                <a:latin typeface="Montserrat"/>
                <a:ea typeface="Montserrat"/>
                <a:cs typeface="Montserrat"/>
                <a:sym typeface="Montserrat"/>
              </a:rPr>
              <a:t>WHAT IS A </a:t>
            </a:r>
          </a:p>
          <a:p>
            <a:pPr algn="l">
              <a:lnSpc>
                <a:spcPts val="8680"/>
              </a:lnSpc>
              <a:spcBef>
                <a:spcPct val="0"/>
              </a:spcBef>
            </a:pPr>
            <a:r>
              <a:rPr lang="en-US" sz="6200">
                <a:solidFill>
                  <a:srgbClr val="000000"/>
                </a:solidFill>
                <a:latin typeface="Montserrat"/>
                <a:ea typeface="Montserrat"/>
                <a:cs typeface="Montserrat"/>
                <a:sym typeface="Montserrat"/>
              </a:rPr>
              <a:t>SMALL BUSINESS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1503371" y="3185677"/>
            <a:ext cx="7385003" cy="3048880"/>
          </a:xfrm>
          <a:custGeom>
            <a:avLst/>
            <a:gdLst/>
            <a:ahLst/>
            <a:cxnLst/>
            <a:rect l="l" t="t" r="r" b="b"/>
            <a:pathLst>
              <a:path w="7385003" h="3048880">
                <a:moveTo>
                  <a:pt x="0" y="0"/>
                </a:moveTo>
                <a:lnTo>
                  <a:pt x="7385003" y="0"/>
                </a:lnTo>
                <a:lnTo>
                  <a:pt x="7385003" y="3048879"/>
                </a:lnTo>
                <a:lnTo>
                  <a:pt x="0" y="30488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856871" y="6615556"/>
            <a:ext cx="8031503" cy="3315786"/>
          </a:xfrm>
          <a:custGeom>
            <a:avLst/>
            <a:gdLst/>
            <a:ahLst/>
            <a:cxnLst/>
            <a:rect l="l" t="t" r="r" b="b"/>
            <a:pathLst>
              <a:path w="8031503" h="3315786">
                <a:moveTo>
                  <a:pt x="0" y="0"/>
                </a:moveTo>
                <a:lnTo>
                  <a:pt x="8031503" y="0"/>
                </a:lnTo>
                <a:lnTo>
                  <a:pt x="8031503" y="3315786"/>
                </a:lnTo>
                <a:lnTo>
                  <a:pt x="0" y="33157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4" name="Freeform 4"/>
          <p:cNvSpPr/>
          <p:nvPr/>
        </p:nvSpPr>
        <p:spPr>
          <a:xfrm>
            <a:off x="9144000" y="4788789"/>
            <a:ext cx="8816689" cy="3639948"/>
          </a:xfrm>
          <a:custGeom>
            <a:avLst/>
            <a:gdLst/>
            <a:ahLst/>
            <a:cxnLst/>
            <a:rect l="l" t="t" r="r" b="b"/>
            <a:pathLst>
              <a:path w="8816689" h="3639948">
                <a:moveTo>
                  <a:pt x="0" y="0"/>
                </a:moveTo>
                <a:lnTo>
                  <a:pt x="8816689" y="0"/>
                </a:lnTo>
                <a:lnTo>
                  <a:pt x="8816689" y="3639948"/>
                </a:lnTo>
                <a:lnTo>
                  <a:pt x="0" y="3639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5" name="Freeform 5"/>
          <p:cNvSpPr/>
          <p:nvPr/>
        </p:nvSpPr>
        <p:spPr>
          <a:xfrm rot="-1365811">
            <a:off x="15220969" y="1134584"/>
            <a:ext cx="2873101" cy="4114800"/>
          </a:xfrm>
          <a:custGeom>
            <a:avLst/>
            <a:gdLst/>
            <a:ahLst/>
            <a:cxnLst/>
            <a:rect l="l" t="t" r="r" b="b"/>
            <a:pathLst>
              <a:path w="2873101" h="4114800">
                <a:moveTo>
                  <a:pt x="0" y="0"/>
                </a:moveTo>
                <a:lnTo>
                  <a:pt x="2873101" y="0"/>
                </a:lnTo>
                <a:lnTo>
                  <a:pt x="28731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6" name="Freeform 6"/>
          <p:cNvSpPr/>
          <p:nvPr/>
        </p:nvSpPr>
        <p:spPr>
          <a:xfrm rot="-803655">
            <a:off x="472319" y="1853095"/>
            <a:ext cx="2382893" cy="2329658"/>
          </a:xfrm>
          <a:custGeom>
            <a:avLst/>
            <a:gdLst/>
            <a:ahLst/>
            <a:cxnLst/>
            <a:rect l="l" t="t" r="r" b="b"/>
            <a:pathLst>
              <a:path w="2382893" h="2329658">
                <a:moveTo>
                  <a:pt x="0" y="0"/>
                </a:moveTo>
                <a:lnTo>
                  <a:pt x="2382893" y="0"/>
                </a:lnTo>
                <a:lnTo>
                  <a:pt x="2382893" y="2329658"/>
                </a:lnTo>
                <a:lnTo>
                  <a:pt x="0" y="23296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7" name="TextBox 7"/>
          <p:cNvSpPr txBox="1"/>
          <p:nvPr/>
        </p:nvSpPr>
        <p:spPr>
          <a:xfrm>
            <a:off x="4489765" y="263217"/>
            <a:ext cx="9308469" cy="2548253"/>
          </a:xfrm>
          <a:prstGeom prst="rect">
            <a:avLst/>
          </a:prstGeom>
        </p:spPr>
        <p:txBody>
          <a:bodyPr lIns="0" tIns="0" rIns="0" bIns="0" rtlCol="0" anchor="t">
            <a:spAutoFit/>
          </a:bodyPr>
          <a:lstStyle/>
          <a:p>
            <a:pPr algn="ctr">
              <a:lnSpc>
                <a:spcPts val="10220"/>
              </a:lnSpc>
              <a:spcBef>
                <a:spcPct val="0"/>
              </a:spcBef>
            </a:pPr>
            <a:r>
              <a:rPr lang="en-US" sz="7300" b="1">
                <a:solidFill>
                  <a:srgbClr val="000000"/>
                </a:solidFill>
                <a:latin typeface="Montserrat Bold"/>
                <a:ea typeface="Montserrat Bold"/>
                <a:cs typeface="Montserrat Bold"/>
                <a:sym typeface="Montserrat Bold"/>
              </a:rPr>
              <a:t>TYPES OF SMALL BUSINESS</a:t>
            </a:r>
          </a:p>
        </p:txBody>
      </p:sp>
      <p:sp>
        <p:nvSpPr>
          <p:cNvPr id="8" name="TextBox 8"/>
          <p:cNvSpPr txBox="1"/>
          <p:nvPr/>
        </p:nvSpPr>
        <p:spPr>
          <a:xfrm>
            <a:off x="2363266" y="3899971"/>
            <a:ext cx="5665214" cy="1884045"/>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Montserrat"/>
                <a:ea typeface="Montserrat"/>
                <a:cs typeface="Montserrat"/>
                <a:sym typeface="Montserrat"/>
              </a:rPr>
              <a:t>A manufacturing business is one involved in the conversion of raw materials into products needed by society.</a:t>
            </a:r>
          </a:p>
        </p:txBody>
      </p:sp>
      <p:sp>
        <p:nvSpPr>
          <p:cNvPr id="9" name="TextBox 9"/>
          <p:cNvSpPr txBox="1"/>
          <p:nvPr/>
        </p:nvSpPr>
        <p:spPr>
          <a:xfrm>
            <a:off x="2213581" y="3144359"/>
            <a:ext cx="5964584" cy="488315"/>
          </a:xfrm>
          <a:prstGeom prst="rect">
            <a:avLst/>
          </a:prstGeom>
        </p:spPr>
        <p:txBody>
          <a:bodyPr lIns="0" tIns="0" rIns="0" bIns="0" rtlCol="0" anchor="t">
            <a:spAutoFit/>
          </a:bodyPr>
          <a:lstStyle/>
          <a:p>
            <a:pPr marL="0" lvl="0" indent="0" algn="ctr">
              <a:lnSpc>
                <a:spcPts val="4059"/>
              </a:lnSpc>
              <a:spcBef>
                <a:spcPct val="0"/>
              </a:spcBef>
            </a:pPr>
            <a:r>
              <a:rPr lang="en-US" sz="2899" b="1">
                <a:solidFill>
                  <a:srgbClr val="000000"/>
                </a:solidFill>
                <a:latin typeface="Montserrat Bold"/>
                <a:ea typeface="Montserrat Bold"/>
                <a:cs typeface="Montserrat Bold"/>
                <a:sym typeface="Montserrat Bold"/>
              </a:rPr>
              <a:t>Manufacturing</a:t>
            </a:r>
          </a:p>
        </p:txBody>
      </p:sp>
      <p:sp>
        <p:nvSpPr>
          <p:cNvPr id="10" name="TextBox 10"/>
          <p:cNvSpPr txBox="1"/>
          <p:nvPr/>
        </p:nvSpPr>
        <p:spPr>
          <a:xfrm>
            <a:off x="1211976" y="7042532"/>
            <a:ext cx="7321293" cy="2724785"/>
          </a:xfrm>
          <a:prstGeom prst="rect">
            <a:avLst/>
          </a:prstGeom>
        </p:spPr>
        <p:txBody>
          <a:bodyPr lIns="0" tIns="0" rIns="0" bIns="0" rtlCol="0" anchor="t">
            <a:spAutoFit/>
          </a:bodyPr>
          <a:lstStyle/>
          <a:p>
            <a:pPr algn="ctr">
              <a:lnSpc>
                <a:spcPts val="3639"/>
              </a:lnSpc>
              <a:spcBef>
                <a:spcPct val="0"/>
              </a:spcBef>
            </a:pPr>
            <a:r>
              <a:rPr lang="en-US" sz="2599">
                <a:solidFill>
                  <a:srgbClr val="000000"/>
                </a:solidFill>
                <a:latin typeface="Montserrat"/>
                <a:ea typeface="Montserrat"/>
                <a:cs typeface="Montserrat"/>
                <a:sym typeface="Montserrat"/>
              </a:rPr>
              <a:t>Wholesaling refers to the activities of persons or establishments which sell to retailers and other merchants, and/or to industrial, institutional, and commercial users, but who do not sell in large amounts to final consumers.</a:t>
            </a:r>
          </a:p>
        </p:txBody>
      </p:sp>
      <p:sp>
        <p:nvSpPr>
          <p:cNvPr id="11" name="TextBox 11"/>
          <p:cNvSpPr txBox="1"/>
          <p:nvPr/>
        </p:nvSpPr>
        <p:spPr>
          <a:xfrm>
            <a:off x="1663765" y="6639829"/>
            <a:ext cx="5964584" cy="455295"/>
          </a:xfrm>
          <a:prstGeom prst="rect">
            <a:avLst/>
          </a:prstGeom>
        </p:spPr>
        <p:txBody>
          <a:bodyPr lIns="0" tIns="0" rIns="0" bIns="0" rtlCol="0" anchor="t">
            <a:spAutoFit/>
          </a:bodyPr>
          <a:lstStyle/>
          <a:p>
            <a:pPr marL="0" lvl="0" indent="0" algn="ctr">
              <a:lnSpc>
                <a:spcPts val="3779"/>
              </a:lnSpc>
              <a:spcBef>
                <a:spcPct val="0"/>
              </a:spcBef>
            </a:pPr>
            <a:r>
              <a:rPr lang="en-US" sz="2699" b="1">
                <a:solidFill>
                  <a:srgbClr val="000000"/>
                </a:solidFill>
                <a:latin typeface="Montserrat Bold"/>
                <a:ea typeface="Montserrat Bold"/>
                <a:cs typeface="Montserrat Bold"/>
                <a:sym typeface="Montserrat Bold"/>
              </a:rPr>
              <a:t>Wholesale</a:t>
            </a:r>
          </a:p>
        </p:txBody>
      </p:sp>
      <p:sp>
        <p:nvSpPr>
          <p:cNvPr id="12" name="TextBox 12"/>
          <p:cNvSpPr txBox="1"/>
          <p:nvPr/>
        </p:nvSpPr>
        <p:spPr>
          <a:xfrm>
            <a:off x="9838855" y="5307965"/>
            <a:ext cx="7420445" cy="2724785"/>
          </a:xfrm>
          <a:prstGeom prst="rect">
            <a:avLst/>
          </a:prstGeom>
        </p:spPr>
        <p:txBody>
          <a:bodyPr lIns="0" tIns="0" rIns="0" bIns="0" rtlCol="0" anchor="t">
            <a:spAutoFit/>
          </a:bodyPr>
          <a:lstStyle/>
          <a:p>
            <a:pPr algn="ctr">
              <a:lnSpc>
                <a:spcPts val="3639"/>
              </a:lnSpc>
            </a:pPr>
            <a:r>
              <a:rPr lang="en-US" sz="2599">
                <a:solidFill>
                  <a:srgbClr val="000000"/>
                </a:solidFill>
                <a:latin typeface="Montserrat"/>
                <a:ea typeface="Montserrat"/>
                <a:cs typeface="Montserrat"/>
                <a:sym typeface="Montserrat"/>
              </a:rPr>
              <a:t>Service businesses are those that provide service in one way or another. They may be further classified into the following: </a:t>
            </a:r>
          </a:p>
          <a:p>
            <a:pPr algn="ctr">
              <a:lnSpc>
                <a:spcPts val="3639"/>
              </a:lnSpc>
              <a:spcBef>
                <a:spcPct val="0"/>
              </a:spcBef>
            </a:pPr>
            <a:r>
              <a:rPr lang="en-US" sz="2599">
                <a:solidFill>
                  <a:srgbClr val="000000"/>
                </a:solidFill>
                <a:latin typeface="Montserrat"/>
                <a:ea typeface="Montserrat"/>
                <a:cs typeface="Montserrat"/>
                <a:sym typeface="Montserrat"/>
              </a:rPr>
              <a:t>Business services, Personal services, Repair services, Entertainment and recreation, Hotels and motels, and  Education services</a:t>
            </a:r>
          </a:p>
        </p:txBody>
      </p:sp>
      <p:sp>
        <p:nvSpPr>
          <p:cNvPr id="13" name="TextBox 13"/>
          <p:cNvSpPr txBox="1"/>
          <p:nvPr/>
        </p:nvSpPr>
        <p:spPr>
          <a:xfrm>
            <a:off x="10447169" y="4883785"/>
            <a:ext cx="6210350" cy="471805"/>
          </a:xfrm>
          <a:prstGeom prst="rect">
            <a:avLst/>
          </a:prstGeom>
        </p:spPr>
        <p:txBody>
          <a:bodyPr lIns="0" tIns="0" rIns="0" bIns="0" rtlCol="0" anchor="t">
            <a:spAutoFit/>
          </a:bodyPr>
          <a:lstStyle/>
          <a:p>
            <a:pPr marL="0" lvl="0" indent="0" algn="ctr">
              <a:lnSpc>
                <a:spcPts val="3919"/>
              </a:lnSpc>
              <a:spcBef>
                <a:spcPct val="0"/>
              </a:spcBef>
            </a:pPr>
            <a:r>
              <a:rPr lang="en-US" sz="2799" b="1">
                <a:solidFill>
                  <a:srgbClr val="000000"/>
                </a:solidFill>
                <a:latin typeface="Montserrat Bold"/>
                <a:ea typeface="Montserrat Bold"/>
                <a:cs typeface="Montserrat Bold"/>
                <a:sym typeface="Montserrat Bold"/>
              </a:rPr>
              <a:t>Service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697137" y="3519648"/>
            <a:ext cx="7585257" cy="3131554"/>
          </a:xfrm>
          <a:custGeom>
            <a:avLst/>
            <a:gdLst/>
            <a:ahLst/>
            <a:cxnLst/>
            <a:rect l="l" t="t" r="r" b="b"/>
            <a:pathLst>
              <a:path w="7585257" h="3131554">
                <a:moveTo>
                  <a:pt x="0" y="0"/>
                </a:moveTo>
                <a:lnTo>
                  <a:pt x="7585257" y="0"/>
                </a:lnTo>
                <a:lnTo>
                  <a:pt x="7585257" y="3131555"/>
                </a:lnTo>
                <a:lnTo>
                  <a:pt x="0" y="31315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8282394" y="5841072"/>
            <a:ext cx="9229505" cy="3810378"/>
          </a:xfrm>
          <a:custGeom>
            <a:avLst/>
            <a:gdLst/>
            <a:ahLst/>
            <a:cxnLst/>
            <a:rect l="l" t="t" r="r" b="b"/>
            <a:pathLst>
              <a:path w="9229505" h="3810378">
                <a:moveTo>
                  <a:pt x="0" y="0"/>
                </a:moveTo>
                <a:lnTo>
                  <a:pt x="9229505" y="0"/>
                </a:lnTo>
                <a:lnTo>
                  <a:pt x="9229505" y="3810377"/>
                </a:lnTo>
                <a:lnTo>
                  <a:pt x="0" y="38103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4" name="Freeform 4"/>
          <p:cNvSpPr/>
          <p:nvPr/>
        </p:nvSpPr>
        <p:spPr>
          <a:xfrm>
            <a:off x="15109634" y="2303992"/>
            <a:ext cx="2873101" cy="4114800"/>
          </a:xfrm>
          <a:custGeom>
            <a:avLst/>
            <a:gdLst/>
            <a:ahLst/>
            <a:cxnLst/>
            <a:rect l="l" t="t" r="r" b="b"/>
            <a:pathLst>
              <a:path w="2873101" h="4114800">
                <a:moveTo>
                  <a:pt x="0" y="0"/>
                </a:moveTo>
                <a:lnTo>
                  <a:pt x="2873101" y="0"/>
                </a:lnTo>
                <a:lnTo>
                  <a:pt x="28731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5" name="Freeform 5"/>
          <p:cNvSpPr/>
          <p:nvPr/>
        </p:nvSpPr>
        <p:spPr>
          <a:xfrm rot="-803655">
            <a:off x="237425" y="5811656"/>
            <a:ext cx="2382893" cy="2329658"/>
          </a:xfrm>
          <a:custGeom>
            <a:avLst/>
            <a:gdLst/>
            <a:ahLst/>
            <a:cxnLst/>
            <a:rect l="l" t="t" r="r" b="b"/>
            <a:pathLst>
              <a:path w="2382893" h="2329658">
                <a:moveTo>
                  <a:pt x="0" y="0"/>
                </a:moveTo>
                <a:lnTo>
                  <a:pt x="2382893" y="0"/>
                </a:lnTo>
                <a:lnTo>
                  <a:pt x="2382893" y="2329658"/>
                </a:lnTo>
                <a:lnTo>
                  <a:pt x="0" y="23296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6" name="TextBox 6"/>
          <p:cNvSpPr txBox="1"/>
          <p:nvPr/>
        </p:nvSpPr>
        <p:spPr>
          <a:xfrm>
            <a:off x="4489765" y="263217"/>
            <a:ext cx="9308469" cy="2548253"/>
          </a:xfrm>
          <a:prstGeom prst="rect">
            <a:avLst/>
          </a:prstGeom>
        </p:spPr>
        <p:txBody>
          <a:bodyPr lIns="0" tIns="0" rIns="0" bIns="0" rtlCol="0" anchor="t">
            <a:spAutoFit/>
          </a:bodyPr>
          <a:lstStyle/>
          <a:p>
            <a:pPr algn="ctr">
              <a:lnSpc>
                <a:spcPts val="10220"/>
              </a:lnSpc>
              <a:spcBef>
                <a:spcPct val="0"/>
              </a:spcBef>
            </a:pPr>
            <a:r>
              <a:rPr lang="en-US" sz="7300" b="1">
                <a:solidFill>
                  <a:srgbClr val="000000"/>
                </a:solidFill>
                <a:latin typeface="Montserrat Bold"/>
                <a:ea typeface="Montserrat Bold"/>
                <a:cs typeface="Montserrat Bold"/>
                <a:sym typeface="Montserrat Bold"/>
              </a:rPr>
              <a:t>TYPES OF SMALL BUSINESS</a:t>
            </a:r>
          </a:p>
        </p:txBody>
      </p:sp>
      <p:sp>
        <p:nvSpPr>
          <p:cNvPr id="7" name="TextBox 7"/>
          <p:cNvSpPr txBox="1"/>
          <p:nvPr/>
        </p:nvSpPr>
        <p:spPr>
          <a:xfrm>
            <a:off x="1295958" y="4151207"/>
            <a:ext cx="6356440" cy="2267585"/>
          </a:xfrm>
          <a:prstGeom prst="rect">
            <a:avLst/>
          </a:prstGeom>
        </p:spPr>
        <p:txBody>
          <a:bodyPr lIns="0" tIns="0" rIns="0" bIns="0" rtlCol="0" anchor="t">
            <a:spAutoFit/>
          </a:bodyPr>
          <a:lstStyle/>
          <a:p>
            <a:pPr algn="ctr">
              <a:lnSpc>
                <a:spcPts val="3639"/>
              </a:lnSpc>
              <a:spcBef>
                <a:spcPct val="0"/>
              </a:spcBef>
            </a:pPr>
            <a:r>
              <a:rPr lang="en-US" sz="2599">
                <a:solidFill>
                  <a:srgbClr val="000000"/>
                </a:solidFill>
                <a:latin typeface="Montserrat"/>
                <a:ea typeface="Montserrat"/>
                <a:cs typeface="Montserrat"/>
                <a:sym typeface="Montserrat"/>
              </a:rPr>
              <a:t>Retailing covers all activities involved in the sale of goods and/or services to the final consumers. The bulk of retailing activities are performed by small businesses. </a:t>
            </a:r>
          </a:p>
        </p:txBody>
      </p:sp>
      <p:sp>
        <p:nvSpPr>
          <p:cNvPr id="8" name="TextBox 8"/>
          <p:cNvSpPr txBox="1"/>
          <p:nvPr/>
        </p:nvSpPr>
        <p:spPr>
          <a:xfrm>
            <a:off x="1295958" y="3519648"/>
            <a:ext cx="5964584" cy="455295"/>
          </a:xfrm>
          <a:prstGeom prst="rect">
            <a:avLst/>
          </a:prstGeom>
        </p:spPr>
        <p:txBody>
          <a:bodyPr lIns="0" tIns="0" rIns="0" bIns="0" rtlCol="0" anchor="t">
            <a:spAutoFit/>
          </a:bodyPr>
          <a:lstStyle/>
          <a:p>
            <a:pPr marL="0" lvl="0" indent="0" algn="ctr">
              <a:lnSpc>
                <a:spcPts val="3779"/>
              </a:lnSpc>
              <a:spcBef>
                <a:spcPct val="0"/>
              </a:spcBef>
            </a:pPr>
            <a:r>
              <a:rPr lang="en-US" sz="2699" b="1">
                <a:solidFill>
                  <a:srgbClr val="000000"/>
                </a:solidFill>
                <a:latin typeface="Montserrat Bold"/>
                <a:ea typeface="Montserrat Bold"/>
                <a:cs typeface="Montserrat Bold"/>
                <a:sym typeface="Montserrat Bold"/>
              </a:rPr>
              <a:t>Retailing</a:t>
            </a:r>
          </a:p>
        </p:txBody>
      </p:sp>
      <p:sp>
        <p:nvSpPr>
          <p:cNvPr id="9" name="TextBox 9"/>
          <p:cNvSpPr txBox="1"/>
          <p:nvPr/>
        </p:nvSpPr>
        <p:spPr>
          <a:xfrm>
            <a:off x="8830920" y="6533515"/>
            <a:ext cx="8132452" cy="2724785"/>
          </a:xfrm>
          <a:prstGeom prst="rect">
            <a:avLst/>
          </a:prstGeom>
        </p:spPr>
        <p:txBody>
          <a:bodyPr lIns="0" tIns="0" rIns="0" bIns="0" rtlCol="0" anchor="t">
            <a:spAutoFit/>
          </a:bodyPr>
          <a:lstStyle/>
          <a:p>
            <a:pPr algn="ctr">
              <a:lnSpc>
                <a:spcPts val="3639"/>
              </a:lnSpc>
              <a:spcBef>
                <a:spcPct val="0"/>
              </a:spcBef>
            </a:pPr>
            <a:r>
              <a:rPr lang="en-US" sz="2599">
                <a:solidFill>
                  <a:srgbClr val="000000"/>
                </a:solidFill>
                <a:latin typeface="Montserrat"/>
                <a:ea typeface="Montserrat"/>
                <a:cs typeface="Montserrat"/>
                <a:sym typeface="Montserrat"/>
              </a:rPr>
              <a:t>General construction firms are those engaged in the construction of buildings whether for private individuals or firms, or for the government. Many of them perform subcontracting jobs for the bigger contractors such as installing electrical facilities and sewerage.</a:t>
            </a:r>
          </a:p>
        </p:txBody>
      </p:sp>
      <p:sp>
        <p:nvSpPr>
          <p:cNvPr id="10" name="TextBox 10"/>
          <p:cNvSpPr txBox="1"/>
          <p:nvPr/>
        </p:nvSpPr>
        <p:spPr>
          <a:xfrm>
            <a:off x="9659987" y="5963497"/>
            <a:ext cx="6210350" cy="455295"/>
          </a:xfrm>
          <a:prstGeom prst="rect">
            <a:avLst/>
          </a:prstGeom>
        </p:spPr>
        <p:txBody>
          <a:bodyPr lIns="0" tIns="0" rIns="0" bIns="0" rtlCol="0" anchor="t">
            <a:spAutoFit/>
          </a:bodyPr>
          <a:lstStyle/>
          <a:p>
            <a:pPr marL="0" lvl="0" indent="0" algn="ctr">
              <a:lnSpc>
                <a:spcPts val="3779"/>
              </a:lnSpc>
              <a:spcBef>
                <a:spcPct val="0"/>
              </a:spcBef>
            </a:pPr>
            <a:r>
              <a:rPr lang="en-US" sz="2699" b="1">
                <a:solidFill>
                  <a:srgbClr val="000000"/>
                </a:solidFill>
                <a:latin typeface="Montserrat Bold"/>
                <a:ea typeface="Montserrat Bold"/>
                <a:cs typeface="Montserrat Bold"/>
                <a:sym typeface="Montserrat Bold"/>
              </a:rPr>
              <a:t>Gen</a:t>
            </a:r>
            <a:r>
              <a:rPr lang="en-US" sz="2699" b="1" u="none" strike="noStrike">
                <a:solidFill>
                  <a:srgbClr val="000000"/>
                </a:solidFill>
                <a:latin typeface="Montserrat Bold"/>
                <a:ea typeface="Montserrat Bold"/>
                <a:cs typeface="Montserrat Bold"/>
                <a:sym typeface="Montserrat Bold"/>
              </a:rPr>
              <a:t>eral Construction Firms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905391" y="2840400"/>
            <a:ext cx="7051304" cy="2911113"/>
          </a:xfrm>
          <a:custGeom>
            <a:avLst/>
            <a:gdLst/>
            <a:ahLst/>
            <a:cxnLst/>
            <a:rect l="l" t="t" r="r" b="b"/>
            <a:pathLst>
              <a:path w="7051304" h="2911113">
                <a:moveTo>
                  <a:pt x="0" y="0"/>
                </a:moveTo>
                <a:lnTo>
                  <a:pt x="7051304" y="0"/>
                </a:lnTo>
                <a:lnTo>
                  <a:pt x="7051304" y="2911113"/>
                </a:lnTo>
                <a:lnTo>
                  <a:pt x="0" y="29111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10331305" y="2840400"/>
            <a:ext cx="7051304" cy="2911113"/>
          </a:xfrm>
          <a:custGeom>
            <a:avLst/>
            <a:gdLst/>
            <a:ahLst/>
            <a:cxnLst/>
            <a:rect l="l" t="t" r="r" b="b"/>
            <a:pathLst>
              <a:path w="7051304" h="2911113">
                <a:moveTo>
                  <a:pt x="0" y="0"/>
                </a:moveTo>
                <a:lnTo>
                  <a:pt x="7051304" y="0"/>
                </a:lnTo>
                <a:lnTo>
                  <a:pt x="7051304" y="2911113"/>
                </a:lnTo>
                <a:lnTo>
                  <a:pt x="0" y="29111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4" name="Freeform 4"/>
          <p:cNvSpPr/>
          <p:nvPr/>
        </p:nvSpPr>
        <p:spPr>
          <a:xfrm>
            <a:off x="4114358" y="2244726"/>
            <a:ext cx="8365540" cy="8229600"/>
          </a:xfrm>
          <a:custGeom>
            <a:avLst/>
            <a:gdLst/>
            <a:ahLst/>
            <a:cxnLst/>
            <a:rect l="l" t="t" r="r" b="b"/>
            <a:pathLst>
              <a:path w="8365540" h="8229600">
                <a:moveTo>
                  <a:pt x="0" y="0"/>
                </a:moveTo>
                <a:lnTo>
                  <a:pt x="8365540" y="0"/>
                </a:lnTo>
                <a:lnTo>
                  <a:pt x="8365540" y="8229600"/>
                </a:lnTo>
                <a:lnTo>
                  <a:pt x="0" y="8229600"/>
                </a:lnTo>
                <a:lnTo>
                  <a:pt x="0" y="0"/>
                </a:lnTo>
                <a:close/>
              </a:path>
            </a:pathLst>
          </a:custGeom>
          <a:blipFill>
            <a:blip r:embed="rId4"/>
            <a:stretch>
              <a:fillRect/>
            </a:stretch>
          </a:blipFill>
        </p:spPr>
        <p:txBody>
          <a:bodyPr/>
          <a:lstStyle/>
          <a:p>
            <a:endParaRPr lang="en-CA"/>
          </a:p>
        </p:txBody>
      </p:sp>
      <p:sp>
        <p:nvSpPr>
          <p:cNvPr id="5" name="Freeform 5"/>
          <p:cNvSpPr/>
          <p:nvPr/>
        </p:nvSpPr>
        <p:spPr>
          <a:xfrm>
            <a:off x="7781014" y="7106268"/>
            <a:ext cx="7051304" cy="2911113"/>
          </a:xfrm>
          <a:custGeom>
            <a:avLst/>
            <a:gdLst/>
            <a:ahLst/>
            <a:cxnLst/>
            <a:rect l="l" t="t" r="r" b="b"/>
            <a:pathLst>
              <a:path w="7051304" h="2911113">
                <a:moveTo>
                  <a:pt x="0" y="0"/>
                </a:moveTo>
                <a:lnTo>
                  <a:pt x="7051304" y="0"/>
                </a:lnTo>
                <a:lnTo>
                  <a:pt x="7051304" y="2911113"/>
                </a:lnTo>
                <a:lnTo>
                  <a:pt x="0" y="29111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6" name="Freeform 6"/>
          <p:cNvSpPr/>
          <p:nvPr/>
        </p:nvSpPr>
        <p:spPr>
          <a:xfrm>
            <a:off x="13856957" y="6065838"/>
            <a:ext cx="1559283" cy="2696409"/>
          </a:xfrm>
          <a:custGeom>
            <a:avLst/>
            <a:gdLst/>
            <a:ahLst/>
            <a:cxnLst/>
            <a:rect l="l" t="t" r="r" b="b"/>
            <a:pathLst>
              <a:path w="1559283" h="2696409">
                <a:moveTo>
                  <a:pt x="0" y="0"/>
                </a:moveTo>
                <a:lnTo>
                  <a:pt x="1559283" y="0"/>
                </a:lnTo>
                <a:lnTo>
                  <a:pt x="1559283" y="2696409"/>
                </a:lnTo>
                <a:lnTo>
                  <a:pt x="0" y="26964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CA"/>
          </a:p>
        </p:txBody>
      </p:sp>
      <p:sp>
        <p:nvSpPr>
          <p:cNvPr id="7" name="Freeform 7"/>
          <p:cNvSpPr/>
          <p:nvPr/>
        </p:nvSpPr>
        <p:spPr>
          <a:xfrm>
            <a:off x="-286056" y="1431106"/>
            <a:ext cx="2382893" cy="2329658"/>
          </a:xfrm>
          <a:custGeom>
            <a:avLst/>
            <a:gdLst/>
            <a:ahLst/>
            <a:cxnLst/>
            <a:rect l="l" t="t" r="r" b="b"/>
            <a:pathLst>
              <a:path w="2382893" h="2329658">
                <a:moveTo>
                  <a:pt x="0" y="0"/>
                </a:moveTo>
                <a:lnTo>
                  <a:pt x="2382894" y="0"/>
                </a:lnTo>
                <a:lnTo>
                  <a:pt x="2382894" y="2329658"/>
                </a:lnTo>
                <a:lnTo>
                  <a:pt x="0" y="232965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CA"/>
          </a:p>
        </p:txBody>
      </p:sp>
      <p:sp>
        <p:nvSpPr>
          <p:cNvPr id="8" name="TextBox 8"/>
          <p:cNvSpPr txBox="1"/>
          <p:nvPr/>
        </p:nvSpPr>
        <p:spPr>
          <a:xfrm>
            <a:off x="7204822" y="460193"/>
            <a:ext cx="9558829" cy="1837052"/>
          </a:xfrm>
          <a:prstGeom prst="rect">
            <a:avLst/>
          </a:prstGeom>
        </p:spPr>
        <p:txBody>
          <a:bodyPr lIns="0" tIns="0" rIns="0" bIns="0" rtlCol="0" anchor="t">
            <a:spAutoFit/>
          </a:bodyPr>
          <a:lstStyle/>
          <a:p>
            <a:pPr algn="ctr">
              <a:lnSpc>
                <a:spcPts val="7420"/>
              </a:lnSpc>
              <a:spcBef>
                <a:spcPct val="0"/>
              </a:spcBef>
            </a:pPr>
            <a:r>
              <a:rPr lang="en-US" sz="5300" b="1">
                <a:solidFill>
                  <a:srgbClr val="000000"/>
                </a:solidFill>
                <a:latin typeface="Montserrat Bold"/>
                <a:ea typeface="Montserrat Bold"/>
                <a:cs typeface="Montserrat Bold"/>
                <a:sym typeface="Montserrat Bold"/>
              </a:rPr>
              <a:t>CHARACTERISTICS OF SMALL BUSINESS</a:t>
            </a:r>
          </a:p>
        </p:txBody>
      </p:sp>
      <p:sp>
        <p:nvSpPr>
          <p:cNvPr id="9" name="TextBox 9"/>
          <p:cNvSpPr txBox="1"/>
          <p:nvPr/>
        </p:nvSpPr>
        <p:spPr>
          <a:xfrm>
            <a:off x="1240238" y="3468665"/>
            <a:ext cx="5964584" cy="431799"/>
          </a:xfrm>
          <a:prstGeom prst="rect">
            <a:avLst/>
          </a:prstGeom>
        </p:spPr>
        <p:txBody>
          <a:bodyPr lIns="0" tIns="0" rIns="0" bIns="0" rtlCol="0" anchor="t">
            <a:spAutoFit/>
          </a:bodyPr>
          <a:lstStyle/>
          <a:p>
            <a:pPr marL="0" lvl="0" indent="0" algn="l">
              <a:lnSpc>
                <a:spcPts val="3500"/>
              </a:lnSpc>
              <a:spcBef>
                <a:spcPct val="0"/>
              </a:spcBef>
            </a:pPr>
            <a:r>
              <a:rPr lang="en-US" sz="2500" b="1">
                <a:solidFill>
                  <a:srgbClr val="000000"/>
                </a:solidFill>
                <a:latin typeface="Open Sans Bold"/>
                <a:ea typeface="Open Sans Bold"/>
                <a:cs typeface="Open Sans Bold"/>
                <a:sym typeface="Open Sans Bold"/>
              </a:rPr>
              <a:t>Independent managemet</a:t>
            </a:r>
          </a:p>
        </p:txBody>
      </p:sp>
      <p:sp>
        <p:nvSpPr>
          <p:cNvPr id="10" name="TextBox 10"/>
          <p:cNvSpPr txBox="1"/>
          <p:nvPr/>
        </p:nvSpPr>
        <p:spPr>
          <a:xfrm>
            <a:off x="1448751" y="4093241"/>
            <a:ext cx="4124218" cy="1012190"/>
          </a:xfrm>
          <a:prstGeom prst="rect">
            <a:avLst/>
          </a:prstGeom>
        </p:spPr>
        <p:txBody>
          <a:bodyPr lIns="0" tIns="0" rIns="0" bIns="0" rtlCol="0" anchor="t">
            <a:spAutoFit/>
          </a:bodyPr>
          <a:lstStyle/>
          <a:p>
            <a:pPr algn="l">
              <a:lnSpc>
                <a:spcPts val="4060"/>
              </a:lnSpc>
              <a:spcBef>
                <a:spcPct val="0"/>
              </a:spcBef>
            </a:pPr>
            <a:r>
              <a:rPr lang="en-US" sz="2900">
                <a:solidFill>
                  <a:srgbClr val="000000"/>
                </a:solidFill>
                <a:latin typeface="Open Sans"/>
                <a:ea typeface="Open Sans"/>
                <a:cs typeface="Open Sans"/>
                <a:sym typeface="Open Sans"/>
              </a:rPr>
              <a:t>The owner is also the manager.</a:t>
            </a:r>
          </a:p>
        </p:txBody>
      </p:sp>
      <p:sp>
        <p:nvSpPr>
          <p:cNvPr id="11" name="TextBox 11"/>
          <p:cNvSpPr txBox="1"/>
          <p:nvPr/>
        </p:nvSpPr>
        <p:spPr>
          <a:xfrm>
            <a:off x="8324374" y="7285038"/>
            <a:ext cx="5964584" cy="431799"/>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000000"/>
                </a:solidFill>
                <a:latin typeface="Open Sans Bold"/>
                <a:ea typeface="Open Sans Bold"/>
                <a:cs typeface="Open Sans Bold"/>
                <a:sym typeface="Open Sans Bold"/>
              </a:rPr>
              <a:t>Mostly local operation</a:t>
            </a:r>
          </a:p>
        </p:txBody>
      </p:sp>
      <p:sp>
        <p:nvSpPr>
          <p:cNvPr id="12" name="TextBox 12"/>
          <p:cNvSpPr txBox="1"/>
          <p:nvPr/>
        </p:nvSpPr>
        <p:spPr>
          <a:xfrm>
            <a:off x="8268938" y="7786888"/>
            <a:ext cx="6020020" cy="1893570"/>
          </a:xfrm>
          <a:prstGeom prst="rect">
            <a:avLst/>
          </a:prstGeom>
        </p:spPr>
        <p:txBody>
          <a:bodyPr lIns="0" tIns="0" rIns="0" bIns="0" rtlCol="0" anchor="t">
            <a:spAutoFit/>
          </a:bodyPr>
          <a:lstStyle/>
          <a:p>
            <a:pPr algn="ctr">
              <a:lnSpc>
                <a:spcPts val="3780"/>
              </a:lnSpc>
              <a:spcBef>
                <a:spcPct val="0"/>
              </a:spcBef>
            </a:pPr>
            <a:r>
              <a:rPr lang="en-US" sz="2700">
                <a:solidFill>
                  <a:srgbClr val="000000"/>
                </a:solidFill>
                <a:latin typeface="Open Sans"/>
                <a:ea typeface="Open Sans"/>
                <a:cs typeface="Open Sans"/>
                <a:sym typeface="Open Sans"/>
              </a:rPr>
              <a:t>Small business usually operates in a certain locality although there are cases when the market is not confined to a local area.</a:t>
            </a:r>
          </a:p>
        </p:txBody>
      </p:sp>
      <p:sp>
        <p:nvSpPr>
          <p:cNvPr id="13" name="TextBox 13"/>
          <p:cNvSpPr txBox="1"/>
          <p:nvPr/>
        </p:nvSpPr>
        <p:spPr>
          <a:xfrm>
            <a:off x="10600826" y="3224228"/>
            <a:ext cx="6162824" cy="431799"/>
          </a:xfrm>
          <a:prstGeom prst="rect">
            <a:avLst/>
          </a:prstGeom>
        </p:spPr>
        <p:txBody>
          <a:bodyPr lIns="0" tIns="0" rIns="0" bIns="0" rtlCol="0" anchor="t">
            <a:spAutoFit/>
          </a:bodyPr>
          <a:lstStyle/>
          <a:p>
            <a:pPr marL="0" lvl="0" indent="0" algn="r">
              <a:lnSpc>
                <a:spcPts val="3500"/>
              </a:lnSpc>
              <a:spcBef>
                <a:spcPct val="0"/>
              </a:spcBef>
            </a:pPr>
            <a:r>
              <a:rPr lang="en-US" sz="2500" b="1">
                <a:solidFill>
                  <a:srgbClr val="000000"/>
                </a:solidFill>
                <a:latin typeface="Open Sans Bold"/>
                <a:ea typeface="Open Sans Bold"/>
                <a:cs typeface="Open Sans Bold"/>
                <a:sym typeface="Open Sans Bold"/>
              </a:rPr>
              <a:t>Small capital requirement</a:t>
            </a:r>
          </a:p>
        </p:txBody>
      </p:sp>
      <p:sp>
        <p:nvSpPr>
          <p:cNvPr id="14" name="TextBox 14"/>
          <p:cNvSpPr txBox="1"/>
          <p:nvPr/>
        </p:nvSpPr>
        <p:spPr>
          <a:xfrm>
            <a:off x="12267079" y="3871626"/>
            <a:ext cx="4763424" cy="1417320"/>
          </a:xfrm>
          <a:prstGeom prst="rect">
            <a:avLst/>
          </a:prstGeom>
        </p:spPr>
        <p:txBody>
          <a:bodyPr lIns="0" tIns="0" rIns="0" bIns="0" rtlCol="0" anchor="t">
            <a:spAutoFit/>
          </a:bodyPr>
          <a:lstStyle/>
          <a:p>
            <a:pPr algn="r">
              <a:lnSpc>
                <a:spcPts val="3780"/>
              </a:lnSpc>
              <a:spcBef>
                <a:spcPct val="0"/>
              </a:spcBef>
            </a:pPr>
            <a:r>
              <a:rPr lang="en-US" sz="2700">
                <a:solidFill>
                  <a:srgbClr val="000000"/>
                </a:solidFill>
                <a:latin typeface="Open Sans"/>
                <a:ea typeface="Open Sans"/>
                <a:cs typeface="Open Sans"/>
                <a:sym typeface="Open Sans"/>
              </a:rPr>
              <a:t>Small business requires only small capital and this can be supplied by a single or a few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276484" y="107570"/>
            <a:ext cx="7315200" cy="1842259"/>
          </a:xfrm>
          <a:custGeom>
            <a:avLst/>
            <a:gdLst/>
            <a:ahLst/>
            <a:cxnLst/>
            <a:rect l="l" t="t" r="r" b="b"/>
            <a:pathLst>
              <a:path w="7315200" h="1842259">
                <a:moveTo>
                  <a:pt x="0" y="0"/>
                </a:moveTo>
                <a:lnTo>
                  <a:pt x="7315200" y="0"/>
                </a:lnTo>
                <a:lnTo>
                  <a:pt x="7315200" y="1842260"/>
                </a:lnTo>
                <a:lnTo>
                  <a:pt x="0" y="18422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11158741" y="601070"/>
            <a:ext cx="10057429" cy="9541986"/>
          </a:xfrm>
          <a:custGeom>
            <a:avLst/>
            <a:gdLst/>
            <a:ahLst/>
            <a:cxnLst/>
            <a:rect l="l" t="t" r="r" b="b"/>
            <a:pathLst>
              <a:path w="10057429" h="9541986">
                <a:moveTo>
                  <a:pt x="0" y="0"/>
                </a:moveTo>
                <a:lnTo>
                  <a:pt x="10057430" y="0"/>
                </a:lnTo>
                <a:lnTo>
                  <a:pt x="10057430" y="9541986"/>
                </a:lnTo>
                <a:lnTo>
                  <a:pt x="0" y="9541986"/>
                </a:lnTo>
                <a:lnTo>
                  <a:pt x="0" y="0"/>
                </a:lnTo>
                <a:close/>
              </a:path>
            </a:pathLst>
          </a:custGeom>
          <a:blipFill>
            <a:blip r:embed="rId4"/>
            <a:stretch>
              <a:fillRect/>
            </a:stretch>
          </a:blipFill>
        </p:spPr>
        <p:txBody>
          <a:bodyPr/>
          <a:lstStyle/>
          <a:p>
            <a:endParaRPr lang="en-CA"/>
          </a:p>
        </p:txBody>
      </p:sp>
      <p:sp>
        <p:nvSpPr>
          <p:cNvPr id="4" name="TextBox 4"/>
          <p:cNvSpPr txBox="1"/>
          <p:nvPr/>
        </p:nvSpPr>
        <p:spPr>
          <a:xfrm>
            <a:off x="866959" y="378876"/>
            <a:ext cx="6134249" cy="967105"/>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Montserrat Bold"/>
                <a:ea typeface="Montserrat Bold"/>
                <a:cs typeface="Montserrat Bold"/>
                <a:sym typeface="Montserrat Bold"/>
              </a:rPr>
              <a:t>ECONOMIC IMPORTANCE OF SMALL BUSINESS</a:t>
            </a:r>
          </a:p>
        </p:txBody>
      </p:sp>
      <p:grpSp>
        <p:nvGrpSpPr>
          <p:cNvPr id="5" name="Group 5"/>
          <p:cNvGrpSpPr/>
          <p:nvPr/>
        </p:nvGrpSpPr>
        <p:grpSpPr>
          <a:xfrm>
            <a:off x="621250" y="2239514"/>
            <a:ext cx="12476383" cy="2266493"/>
            <a:chOff x="0" y="0"/>
            <a:chExt cx="16635177" cy="3021990"/>
          </a:xfrm>
        </p:grpSpPr>
        <p:grpSp>
          <p:nvGrpSpPr>
            <p:cNvPr id="6" name="Group 6"/>
            <p:cNvGrpSpPr/>
            <p:nvPr/>
          </p:nvGrpSpPr>
          <p:grpSpPr>
            <a:xfrm>
              <a:off x="264068" y="149850"/>
              <a:ext cx="16371109" cy="2872140"/>
              <a:chOff x="0" y="0"/>
              <a:chExt cx="3233799" cy="567336"/>
            </a:xfrm>
          </p:grpSpPr>
          <p:sp>
            <p:nvSpPr>
              <p:cNvPr id="7" name="Freeform 7"/>
              <p:cNvSpPr/>
              <p:nvPr/>
            </p:nvSpPr>
            <p:spPr>
              <a:xfrm>
                <a:off x="0" y="0"/>
                <a:ext cx="3233799" cy="567336"/>
              </a:xfrm>
              <a:custGeom>
                <a:avLst/>
                <a:gdLst/>
                <a:ahLst/>
                <a:cxnLst/>
                <a:rect l="l" t="t" r="r" b="b"/>
                <a:pathLst>
                  <a:path w="3233799" h="567336">
                    <a:moveTo>
                      <a:pt x="34049" y="0"/>
                    </a:moveTo>
                    <a:lnTo>
                      <a:pt x="3199750" y="0"/>
                    </a:lnTo>
                    <a:cubicBezTo>
                      <a:pt x="3218555" y="0"/>
                      <a:pt x="3233799" y="15244"/>
                      <a:pt x="3233799" y="34049"/>
                    </a:cubicBezTo>
                    <a:lnTo>
                      <a:pt x="3233799" y="533287"/>
                    </a:lnTo>
                    <a:cubicBezTo>
                      <a:pt x="3233799" y="552092"/>
                      <a:pt x="3218555" y="567336"/>
                      <a:pt x="3199750" y="567336"/>
                    </a:cubicBezTo>
                    <a:lnTo>
                      <a:pt x="34049" y="567336"/>
                    </a:lnTo>
                    <a:cubicBezTo>
                      <a:pt x="15244" y="567336"/>
                      <a:pt x="0" y="552092"/>
                      <a:pt x="0" y="533287"/>
                    </a:cubicBezTo>
                    <a:lnTo>
                      <a:pt x="0" y="34049"/>
                    </a:lnTo>
                    <a:cubicBezTo>
                      <a:pt x="0" y="15244"/>
                      <a:pt x="15244" y="0"/>
                      <a:pt x="34049" y="0"/>
                    </a:cubicBezTo>
                    <a:close/>
                  </a:path>
                </a:pathLst>
              </a:custGeom>
              <a:solidFill>
                <a:srgbClr val="000000"/>
              </a:solidFill>
            </p:spPr>
            <p:txBody>
              <a:bodyPr/>
              <a:lstStyle/>
              <a:p>
                <a:endParaRPr lang="en-CA"/>
              </a:p>
            </p:txBody>
          </p:sp>
          <p:sp>
            <p:nvSpPr>
              <p:cNvPr id="8" name="TextBox 8"/>
              <p:cNvSpPr txBox="1"/>
              <p:nvPr/>
            </p:nvSpPr>
            <p:spPr>
              <a:xfrm>
                <a:off x="0" y="-57150"/>
                <a:ext cx="3233799" cy="624486"/>
              </a:xfrm>
              <a:prstGeom prst="rect">
                <a:avLst/>
              </a:prstGeom>
            </p:spPr>
            <p:txBody>
              <a:bodyPr lIns="50800" tIns="50800" rIns="50800" bIns="50800" rtlCol="0" anchor="ctr"/>
              <a:lstStyle/>
              <a:p>
                <a:pPr algn="ctr">
                  <a:lnSpc>
                    <a:spcPts val="3500"/>
                  </a:lnSpc>
                </a:pPr>
                <a:endParaRPr/>
              </a:p>
            </p:txBody>
          </p:sp>
        </p:grpSp>
        <p:grpSp>
          <p:nvGrpSpPr>
            <p:cNvPr id="9" name="Group 9"/>
            <p:cNvGrpSpPr/>
            <p:nvPr/>
          </p:nvGrpSpPr>
          <p:grpSpPr>
            <a:xfrm>
              <a:off x="0" y="0"/>
              <a:ext cx="16197685" cy="2744203"/>
              <a:chOff x="0" y="0"/>
              <a:chExt cx="3199543" cy="542065"/>
            </a:xfrm>
          </p:grpSpPr>
          <p:sp>
            <p:nvSpPr>
              <p:cNvPr id="10" name="Freeform 10"/>
              <p:cNvSpPr/>
              <p:nvPr/>
            </p:nvSpPr>
            <p:spPr>
              <a:xfrm>
                <a:off x="0" y="0"/>
                <a:ext cx="3199543" cy="542065"/>
              </a:xfrm>
              <a:custGeom>
                <a:avLst/>
                <a:gdLst/>
                <a:ahLst/>
                <a:cxnLst/>
                <a:rect l="l" t="t" r="r" b="b"/>
                <a:pathLst>
                  <a:path w="3199543" h="542065">
                    <a:moveTo>
                      <a:pt x="34413" y="0"/>
                    </a:moveTo>
                    <a:lnTo>
                      <a:pt x="3165129" y="0"/>
                    </a:lnTo>
                    <a:cubicBezTo>
                      <a:pt x="3174256" y="0"/>
                      <a:pt x="3183009" y="3626"/>
                      <a:pt x="3189463" y="10079"/>
                    </a:cubicBezTo>
                    <a:cubicBezTo>
                      <a:pt x="3195917" y="16533"/>
                      <a:pt x="3199543" y="25286"/>
                      <a:pt x="3199543" y="34413"/>
                    </a:cubicBezTo>
                    <a:lnTo>
                      <a:pt x="3199543" y="507651"/>
                    </a:lnTo>
                    <a:cubicBezTo>
                      <a:pt x="3199543" y="516778"/>
                      <a:pt x="3195917" y="525532"/>
                      <a:pt x="3189463" y="531985"/>
                    </a:cubicBezTo>
                    <a:cubicBezTo>
                      <a:pt x="3183009" y="538439"/>
                      <a:pt x="3174256" y="542065"/>
                      <a:pt x="3165129" y="542065"/>
                    </a:cubicBezTo>
                    <a:lnTo>
                      <a:pt x="34413" y="542065"/>
                    </a:lnTo>
                    <a:cubicBezTo>
                      <a:pt x="25286" y="542065"/>
                      <a:pt x="16533" y="538439"/>
                      <a:pt x="10079" y="531985"/>
                    </a:cubicBezTo>
                    <a:cubicBezTo>
                      <a:pt x="3626" y="525532"/>
                      <a:pt x="0" y="516778"/>
                      <a:pt x="0" y="507651"/>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11" name="TextBox 11"/>
              <p:cNvSpPr txBox="1"/>
              <p:nvPr/>
            </p:nvSpPr>
            <p:spPr>
              <a:xfrm>
                <a:off x="0" y="-57150"/>
                <a:ext cx="3199543" cy="599215"/>
              </a:xfrm>
              <a:prstGeom prst="rect">
                <a:avLst/>
              </a:prstGeom>
            </p:spPr>
            <p:txBody>
              <a:bodyPr lIns="50800" tIns="50800" rIns="50800" bIns="50800" rtlCol="0" anchor="ctr"/>
              <a:lstStyle/>
              <a:p>
                <a:pPr algn="ctr">
                  <a:lnSpc>
                    <a:spcPts val="3500"/>
                  </a:lnSpc>
                </a:pPr>
                <a:endParaRPr/>
              </a:p>
            </p:txBody>
          </p:sp>
        </p:grpSp>
      </p:grpSp>
      <p:sp>
        <p:nvSpPr>
          <p:cNvPr id="12" name="TextBox 12"/>
          <p:cNvSpPr txBox="1"/>
          <p:nvPr/>
        </p:nvSpPr>
        <p:spPr>
          <a:xfrm>
            <a:off x="1275630" y="3014971"/>
            <a:ext cx="11167624" cy="967105"/>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Montserrat"/>
                <a:ea typeface="Montserrat"/>
                <a:cs typeface="Montserrat"/>
                <a:sym typeface="Montserrat"/>
              </a:rPr>
              <a:t>People who do not feel comfortable as employees have the option of engaging in small business operation.</a:t>
            </a:r>
          </a:p>
        </p:txBody>
      </p:sp>
      <p:sp>
        <p:nvSpPr>
          <p:cNvPr id="13" name="TextBox 13"/>
          <p:cNvSpPr txBox="1"/>
          <p:nvPr/>
        </p:nvSpPr>
        <p:spPr>
          <a:xfrm>
            <a:off x="1028700" y="2404042"/>
            <a:ext cx="10130041" cy="4387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Providers of ec</a:t>
            </a:r>
            <a:r>
              <a:rPr lang="en-US" sz="2599" b="1" u="none" strike="noStrike">
                <a:solidFill>
                  <a:srgbClr val="000000"/>
                </a:solidFill>
                <a:latin typeface="Montserrat Bold"/>
                <a:ea typeface="Montserrat Bold"/>
                <a:cs typeface="Montserrat Bold"/>
                <a:sym typeface="Montserrat Bold"/>
              </a:rPr>
              <a:t>onomic opportunities for entrepreneurs</a:t>
            </a:r>
          </a:p>
        </p:txBody>
      </p:sp>
      <p:grpSp>
        <p:nvGrpSpPr>
          <p:cNvPr id="14" name="Group 14"/>
          <p:cNvGrpSpPr/>
          <p:nvPr/>
        </p:nvGrpSpPr>
        <p:grpSpPr>
          <a:xfrm>
            <a:off x="1580582" y="4677457"/>
            <a:ext cx="12476383" cy="2612105"/>
            <a:chOff x="0" y="0"/>
            <a:chExt cx="16635177" cy="3482807"/>
          </a:xfrm>
        </p:grpSpPr>
        <p:grpSp>
          <p:nvGrpSpPr>
            <p:cNvPr id="15" name="Group 15"/>
            <p:cNvGrpSpPr/>
            <p:nvPr/>
          </p:nvGrpSpPr>
          <p:grpSpPr>
            <a:xfrm>
              <a:off x="264068" y="172701"/>
              <a:ext cx="16371109" cy="3310106"/>
              <a:chOff x="0" y="0"/>
              <a:chExt cx="3233799" cy="653848"/>
            </a:xfrm>
          </p:grpSpPr>
          <p:sp>
            <p:nvSpPr>
              <p:cNvPr id="16" name="Freeform 16"/>
              <p:cNvSpPr/>
              <p:nvPr/>
            </p:nvSpPr>
            <p:spPr>
              <a:xfrm>
                <a:off x="0" y="0"/>
                <a:ext cx="3233799" cy="653848"/>
              </a:xfrm>
              <a:custGeom>
                <a:avLst/>
                <a:gdLst/>
                <a:ahLst/>
                <a:cxnLst/>
                <a:rect l="l" t="t" r="r" b="b"/>
                <a:pathLst>
                  <a:path w="3233799" h="653848">
                    <a:moveTo>
                      <a:pt x="34049" y="0"/>
                    </a:moveTo>
                    <a:lnTo>
                      <a:pt x="3199750" y="0"/>
                    </a:lnTo>
                    <a:cubicBezTo>
                      <a:pt x="3218555" y="0"/>
                      <a:pt x="3233799" y="15244"/>
                      <a:pt x="3233799" y="34049"/>
                    </a:cubicBezTo>
                    <a:lnTo>
                      <a:pt x="3233799" y="619799"/>
                    </a:lnTo>
                    <a:cubicBezTo>
                      <a:pt x="3233799" y="638604"/>
                      <a:pt x="3218555" y="653848"/>
                      <a:pt x="3199750" y="653848"/>
                    </a:cubicBezTo>
                    <a:lnTo>
                      <a:pt x="34049" y="653848"/>
                    </a:lnTo>
                    <a:cubicBezTo>
                      <a:pt x="15244" y="653848"/>
                      <a:pt x="0" y="638604"/>
                      <a:pt x="0" y="619799"/>
                    </a:cubicBezTo>
                    <a:lnTo>
                      <a:pt x="0" y="34049"/>
                    </a:lnTo>
                    <a:cubicBezTo>
                      <a:pt x="0" y="15244"/>
                      <a:pt x="15244" y="0"/>
                      <a:pt x="34049" y="0"/>
                    </a:cubicBezTo>
                    <a:close/>
                  </a:path>
                </a:pathLst>
              </a:custGeom>
              <a:solidFill>
                <a:srgbClr val="000000"/>
              </a:solidFill>
            </p:spPr>
            <p:txBody>
              <a:bodyPr/>
              <a:lstStyle/>
              <a:p>
                <a:endParaRPr lang="en-CA"/>
              </a:p>
            </p:txBody>
          </p:sp>
          <p:sp>
            <p:nvSpPr>
              <p:cNvPr id="17" name="TextBox 17"/>
              <p:cNvSpPr txBox="1"/>
              <p:nvPr/>
            </p:nvSpPr>
            <p:spPr>
              <a:xfrm>
                <a:off x="0" y="-57150"/>
                <a:ext cx="3233799" cy="710998"/>
              </a:xfrm>
              <a:prstGeom prst="rect">
                <a:avLst/>
              </a:prstGeom>
            </p:spPr>
            <p:txBody>
              <a:bodyPr lIns="50800" tIns="50800" rIns="50800" bIns="50800" rtlCol="0" anchor="ctr"/>
              <a:lstStyle/>
              <a:p>
                <a:pPr algn="ctr">
                  <a:lnSpc>
                    <a:spcPts val="3500"/>
                  </a:lnSpc>
                </a:pPr>
                <a:endParaRPr/>
              </a:p>
            </p:txBody>
          </p:sp>
        </p:grpSp>
        <p:grpSp>
          <p:nvGrpSpPr>
            <p:cNvPr id="18" name="Group 18"/>
            <p:cNvGrpSpPr/>
            <p:nvPr/>
          </p:nvGrpSpPr>
          <p:grpSpPr>
            <a:xfrm>
              <a:off x="0" y="0"/>
              <a:ext cx="16197685" cy="3162661"/>
              <a:chOff x="0" y="0"/>
              <a:chExt cx="3199543" cy="624723"/>
            </a:xfrm>
          </p:grpSpPr>
          <p:sp>
            <p:nvSpPr>
              <p:cNvPr id="19" name="Freeform 19"/>
              <p:cNvSpPr/>
              <p:nvPr/>
            </p:nvSpPr>
            <p:spPr>
              <a:xfrm>
                <a:off x="0" y="0"/>
                <a:ext cx="3199543" cy="624723"/>
              </a:xfrm>
              <a:custGeom>
                <a:avLst/>
                <a:gdLst/>
                <a:ahLst/>
                <a:cxnLst/>
                <a:rect l="l" t="t" r="r" b="b"/>
                <a:pathLst>
                  <a:path w="3199543" h="624723">
                    <a:moveTo>
                      <a:pt x="34413" y="0"/>
                    </a:moveTo>
                    <a:lnTo>
                      <a:pt x="3165129" y="0"/>
                    </a:lnTo>
                    <a:cubicBezTo>
                      <a:pt x="3174256" y="0"/>
                      <a:pt x="3183009" y="3626"/>
                      <a:pt x="3189463" y="10079"/>
                    </a:cubicBezTo>
                    <a:cubicBezTo>
                      <a:pt x="3195917" y="16533"/>
                      <a:pt x="3199543" y="25286"/>
                      <a:pt x="3199543" y="34413"/>
                    </a:cubicBezTo>
                    <a:lnTo>
                      <a:pt x="3199543" y="590310"/>
                    </a:lnTo>
                    <a:cubicBezTo>
                      <a:pt x="3199543" y="599437"/>
                      <a:pt x="3195917" y="608190"/>
                      <a:pt x="3189463" y="614644"/>
                    </a:cubicBezTo>
                    <a:cubicBezTo>
                      <a:pt x="3183009" y="621098"/>
                      <a:pt x="3174256" y="624723"/>
                      <a:pt x="3165129" y="624723"/>
                    </a:cubicBezTo>
                    <a:lnTo>
                      <a:pt x="34413" y="624723"/>
                    </a:lnTo>
                    <a:cubicBezTo>
                      <a:pt x="25286" y="624723"/>
                      <a:pt x="16533" y="621098"/>
                      <a:pt x="10079" y="614644"/>
                    </a:cubicBezTo>
                    <a:cubicBezTo>
                      <a:pt x="3626" y="608190"/>
                      <a:pt x="0" y="599437"/>
                      <a:pt x="0" y="590310"/>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20" name="TextBox 20"/>
              <p:cNvSpPr txBox="1"/>
              <p:nvPr/>
            </p:nvSpPr>
            <p:spPr>
              <a:xfrm>
                <a:off x="0" y="-57150"/>
                <a:ext cx="3199543" cy="681873"/>
              </a:xfrm>
              <a:prstGeom prst="rect">
                <a:avLst/>
              </a:prstGeom>
            </p:spPr>
            <p:txBody>
              <a:bodyPr lIns="50800" tIns="50800" rIns="50800" bIns="50800" rtlCol="0" anchor="ctr"/>
              <a:lstStyle/>
              <a:p>
                <a:pPr algn="ctr">
                  <a:lnSpc>
                    <a:spcPts val="3500"/>
                  </a:lnSpc>
                </a:pPr>
                <a:endParaRPr/>
              </a:p>
            </p:txBody>
          </p:sp>
        </p:grpSp>
      </p:grpSp>
      <p:grpSp>
        <p:nvGrpSpPr>
          <p:cNvPr id="21" name="Group 21"/>
          <p:cNvGrpSpPr/>
          <p:nvPr/>
        </p:nvGrpSpPr>
        <p:grpSpPr>
          <a:xfrm>
            <a:off x="2905809" y="7461012"/>
            <a:ext cx="12476383" cy="2490124"/>
            <a:chOff x="0" y="0"/>
            <a:chExt cx="16635177" cy="3320166"/>
          </a:xfrm>
        </p:grpSpPr>
        <p:grpSp>
          <p:nvGrpSpPr>
            <p:cNvPr id="22" name="Group 22"/>
            <p:cNvGrpSpPr/>
            <p:nvPr/>
          </p:nvGrpSpPr>
          <p:grpSpPr>
            <a:xfrm>
              <a:off x="264068" y="164636"/>
              <a:ext cx="16371109" cy="3155530"/>
              <a:chOff x="0" y="0"/>
              <a:chExt cx="3233799" cy="623315"/>
            </a:xfrm>
          </p:grpSpPr>
          <p:sp>
            <p:nvSpPr>
              <p:cNvPr id="23" name="Freeform 23"/>
              <p:cNvSpPr/>
              <p:nvPr/>
            </p:nvSpPr>
            <p:spPr>
              <a:xfrm>
                <a:off x="0" y="0"/>
                <a:ext cx="3233799" cy="623315"/>
              </a:xfrm>
              <a:custGeom>
                <a:avLst/>
                <a:gdLst/>
                <a:ahLst/>
                <a:cxnLst/>
                <a:rect l="l" t="t" r="r" b="b"/>
                <a:pathLst>
                  <a:path w="3233799" h="623315">
                    <a:moveTo>
                      <a:pt x="34049" y="0"/>
                    </a:moveTo>
                    <a:lnTo>
                      <a:pt x="3199750" y="0"/>
                    </a:lnTo>
                    <a:cubicBezTo>
                      <a:pt x="3218555" y="0"/>
                      <a:pt x="3233799" y="15244"/>
                      <a:pt x="3233799" y="34049"/>
                    </a:cubicBezTo>
                    <a:lnTo>
                      <a:pt x="3233799" y="589266"/>
                    </a:lnTo>
                    <a:cubicBezTo>
                      <a:pt x="3233799" y="608070"/>
                      <a:pt x="3218555" y="623315"/>
                      <a:pt x="3199750" y="623315"/>
                    </a:cubicBezTo>
                    <a:lnTo>
                      <a:pt x="34049" y="623315"/>
                    </a:lnTo>
                    <a:cubicBezTo>
                      <a:pt x="15244" y="623315"/>
                      <a:pt x="0" y="608070"/>
                      <a:pt x="0" y="589266"/>
                    </a:cubicBezTo>
                    <a:lnTo>
                      <a:pt x="0" y="34049"/>
                    </a:lnTo>
                    <a:cubicBezTo>
                      <a:pt x="0" y="15244"/>
                      <a:pt x="15244" y="0"/>
                      <a:pt x="34049" y="0"/>
                    </a:cubicBezTo>
                    <a:close/>
                  </a:path>
                </a:pathLst>
              </a:custGeom>
              <a:solidFill>
                <a:srgbClr val="000000"/>
              </a:solidFill>
            </p:spPr>
            <p:txBody>
              <a:bodyPr/>
              <a:lstStyle/>
              <a:p>
                <a:endParaRPr lang="en-CA"/>
              </a:p>
            </p:txBody>
          </p:sp>
          <p:sp>
            <p:nvSpPr>
              <p:cNvPr id="24" name="TextBox 24"/>
              <p:cNvSpPr txBox="1"/>
              <p:nvPr/>
            </p:nvSpPr>
            <p:spPr>
              <a:xfrm>
                <a:off x="0" y="-57150"/>
                <a:ext cx="3233799" cy="680465"/>
              </a:xfrm>
              <a:prstGeom prst="rect">
                <a:avLst/>
              </a:prstGeom>
            </p:spPr>
            <p:txBody>
              <a:bodyPr lIns="50800" tIns="50800" rIns="50800" bIns="50800" rtlCol="0" anchor="ctr"/>
              <a:lstStyle/>
              <a:p>
                <a:pPr algn="ctr">
                  <a:lnSpc>
                    <a:spcPts val="3500"/>
                  </a:lnSpc>
                </a:pPr>
                <a:endParaRPr/>
              </a:p>
            </p:txBody>
          </p:sp>
        </p:grpSp>
        <p:grpSp>
          <p:nvGrpSpPr>
            <p:cNvPr id="25" name="Group 25"/>
            <p:cNvGrpSpPr/>
            <p:nvPr/>
          </p:nvGrpSpPr>
          <p:grpSpPr>
            <a:xfrm>
              <a:off x="0" y="0"/>
              <a:ext cx="16197685" cy="3014970"/>
              <a:chOff x="0" y="0"/>
              <a:chExt cx="3199543" cy="595550"/>
            </a:xfrm>
          </p:grpSpPr>
          <p:sp>
            <p:nvSpPr>
              <p:cNvPr id="26" name="Freeform 26"/>
              <p:cNvSpPr/>
              <p:nvPr/>
            </p:nvSpPr>
            <p:spPr>
              <a:xfrm>
                <a:off x="0" y="0"/>
                <a:ext cx="3199543" cy="595550"/>
              </a:xfrm>
              <a:custGeom>
                <a:avLst/>
                <a:gdLst/>
                <a:ahLst/>
                <a:cxnLst/>
                <a:rect l="l" t="t" r="r" b="b"/>
                <a:pathLst>
                  <a:path w="3199543" h="595550">
                    <a:moveTo>
                      <a:pt x="34413" y="0"/>
                    </a:moveTo>
                    <a:lnTo>
                      <a:pt x="3165129" y="0"/>
                    </a:lnTo>
                    <a:cubicBezTo>
                      <a:pt x="3174256" y="0"/>
                      <a:pt x="3183009" y="3626"/>
                      <a:pt x="3189463" y="10079"/>
                    </a:cubicBezTo>
                    <a:cubicBezTo>
                      <a:pt x="3195917" y="16533"/>
                      <a:pt x="3199543" y="25286"/>
                      <a:pt x="3199543" y="34413"/>
                    </a:cubicBezTo>
                    <a:lnTo>
                      <a:pt x="3199543" y="561136"/>
                    </a:lnTo>
                    <a:cubicBezTo>
                      <a:pt x="3199543" y="570263"/>
                      <a:pt x="3195917" y="579016"/>
                      <a:pt x="3189463" y="585470"/>
                    </a:cubicBezTo>
                    <a:cubicBezTo>
                      <a:pt x="3183009" y="591924"/>
                      <a:pt x="3174256" y="595550"/>
                      <a:pt x="3165129" y="595550"/>
                    </a:cubicBezTo>
                    <a:lnTo>
                      <a:pt x="34413" y="595550"/>
                    </a:lnTo>
                    <a:cubicBezTo>
                      <a:pt x="25286" y="595550"/>
                      <a:pt x="16533" y="591924"/>
                      <a:pt x="10079" y="585470"/>
                    </a:cubicBezTo>
                    <a:cubicBezTo>
                      <a:pt x="3626" y="579016"/>
                      <a:pt x="0" y="570263"/>
                      <a:pt x="0" y="561136"/>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27" name="TextBox 27"/>
              <p:cNvSpPr txBox="1"/>
              <p:nvPr/>
            </p:nvSpPr>
            <p:spPr>
              <a:xfrm>
                <a:off x="0" y="-57150"/>
                <a:ext cx="3199543" cy="652700"/>
              </a:xfrm>
              <a:prstGeom prst="rect">
                <a:avLst/>
              </a:prstGeom>
            </p:spPr>
            <p:txBody>
              <a:bodyPr lIns="50800" tIns="50800" rIns="50800" bIns="50800" rtlCol="0" anchor="ctr"/>
              <a:lstStyle/>
              <a:p>
                <a:pPr algn="ctr">
                  <a:lnSpc>
                    <a:spcPts val="3500"/>
                  </a:lnSpc>
                </a:pPr>
                <a:endParaRPr/>
              </a:p>
            </p:txBody>
          </p:sp>
        </p:grpSp>
      </p:grpSp>
      <p:sp>
        <p:nvSpPr>
          <p:cNvPr id="28" name="TextBox 28"/>
          <p:cNvSpPr txBox="1"/>
          <p:nvPr/>
        </p:nvSpPr>
        <p:spPr>
          <a:xfrm>
            <a:off x="2618164" y="4797199"/>
            <a:ext cx="10130041" cy="4387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Providers of </a:t>
            </a:r>
            <a:r>
              <a:rPr lang="en-US" sz="2599" b="1" u="none" strike="noStrike">
                <a:solidFill>
                  <a:srgbClr val="000000"/>
                </a:solidFill>
                <a:latin typeface="Montserrat Bold"/>
                <a:ea typeface="Montserrat Bold"/>
                <a:cs typeface="Montserrat Bold"/>
                <a:sym typeface="Montserrat Bold"/>
              </a:rPr>
              <a:t>products and services to consumers</a:t>
            </a:r>
          </a:p>
        </p:txBody>
      </p:sp>
      <p:sp>
        <p:nvSpPr>
          <p:cNvPr id="29" name="TextBox 29"/>
          <p:cNvSpPr txBox="1"/>
          <p:nvPr/>
        </p:nvSpPr>
        <p:spPr>
          <a:xfrm>
            <a:off x="3926924" y="7584837"/>
            <a:ext cx="10130041" cy="4387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 Suppliers of products a</a:t>
            </a:r>
            <a:r>
              <a:rPr lang="en-US" sz="2599" b="1" u="none" strike="noStrike">
                <a:solidFill>
                  <a:srgbClr val="000000"/>
                </a:solidFill>
                <a:latin typeface="Montserrat Bold"/>
                <a:ea typeface="Montserrat Bold"/>
                <a:cs typeface="Montserrat Bold"/>
                <a:sym typeface="Montserrat Bold"/>
              </a:rPr>
              <a:t>nd services to other businesses </a:t>
            </a:r>
          </a:p>
        </p:txBody>
      </p:sp>
      <p:sp>
        <p:nvSpPr>
          <p:cNvPr id="30" name="TextBox 30"/>
          <p:cNvSpPr txBox="1"/>
          <p:nvPr/>
        </p:nvSpPr>
        <p:spPr>
          <a:xfrm>
            <a:off x="2234962" y="5407434"/>
            <a:ext cx="11167624" cy="1407795"/>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Montserrat"/>
                <a:ea typeface="Montserrat"/>
                <a:cs typeface="Montserrat"/>
                <a:sym typeface="Montserrat"/>
              </a:rPr>
              <a:t>The production of many products and services is oftentimes not feasible with big and medium business operation. These limited opportunities are naturally fitted for small businesses.</a:t>
            </a:r>
          </a:p>
        </p:txBody>
      </p:sp>
      <p:sp>
        <p:nvSpPr>
          <p:cNvPr id="31" name="TextBox 31"/>
          <p:cNvSpPr txBox="1"/>
          <p:nvPr/>
        </p:nvSpPr>
        <p:spPr>
          <a:xfrm>
            <a:off x="3560188" y="8147448"/>
            <a:ext cx="11167624" cy="1462405"/>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Montserrat"/>
                <a:ea typeface="Montserrat"/>
                <a:cs typeface="Montserrat"/>
                <a:sym typeface="Montserrat"/>
              </a:rPr>
              <a:t>Some businesses require raw materials, semi-finished parts, finished components, or even labor, which they cannot economically produce.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276484" y="107570"/>
            <a:ext cx="7315200" cy="1842259"/>
          </a:xfrm>
          <a:custGeom>
            <a:avLst/>
            <a:gdLst/>
            <a:ahLst/>
            <a:cxnLst/>
            <a:rect l="l" t="t" r="r" b="b"/>
            <a:pathLst>
              <a:path w="7315200" h="1842259">
                <a:moveTo>
                  <a:pt x="0" y="0"/>
                </a:moveTo>
                <a:lnTo>
                  <a:pt x="7315200" y="0"/>
                </a:lnTo>
                <a:lnTo>
                  <a:pt x="7315200" y="1842260"/>
                </a:lnTo>
                <a:lnTo>
                  <a:pt x="0" y="18422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11158741" y="601070"/>
            <a:ext cx="10057429" cy="9541986"/>
          </a:xfrm>
          <a:custGeom>
            <a:avLst/>
            <a:gdLst/>
            <a:ahLst/>
            <a:cxnLst/>
            <a:rect l="l" t="t" r="r" b="b"/>
            <a:pathLst>
              <a:path w="10057429" h="9541986">
                <a:moveTo>
                  <a:pt x="0" y="0"/>
                </a:moveTo>
                <a:lnTo>
                  <a:pt x="10057430" y="0"/>
                </a:lnTo>
                <a:lnTo>
                  <a:pt x="10057430" y="9541986"/>
                </a:lnTo>
                <a:lnTo>
                  <a:pt x="0" y="9541986"/>
                </a:lnTo>
                <a:lnTo>
                  <a:pt x="0" y="0"/>
                </a:lnTo>
                <a:close/>
              </a:path>
            </a:pathLst>
          </a:custGeom>
          <a:blipFill>
            <a:blip r:embed="rId4"/>
            <a:stretch>
              <a:fillRect/>
            </a:stretch>
          </a:blipFill>
        </p:spPr>
        <p:txBody>
          <a:bodyPr/>
          <a:lstStyle/>
          <a:p>
            <a:endParaRPr lang="en-CA"/>
          </a:p>
        </p:txBody>
      </p:sp>
      <p:sp>
        <p:nvSpPr>
          <p:cNvPr id="4" name="TextBox 4"/>
          <p:cNvSpPr txBox="1"/>
          <p:nvPr/>
        </p:nvSpPr>
        <p:spPr>
          <a:xfrm>
            <a:off x="866959" y="378876"/>
            <a:ext cx="6134249" cy="967105"/>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Montserrat Bold"/>
                <a:ea typeface="Montserrat Bold"/>
                <a:cs typeface="Montserrat Bold"/>
                <a:sym typeface="Montserrat Bold"/>
              </a:rPr>
              <a:t>ECONOMIC IMPORTANCE OF SMALL BUSINESS</a:t>
            </a:r>
          </a:p>
        </p:txBody>
      </p:sp>
      <p:grpSp>
        <p:nvGrpSpPr>
          <p:cNvPr id="5" name="Group 5"/>
          <p:cNvGrpSpPr/>
          <p:nvPr/>
        </p:nvGrpSpPr>
        <p:grpSpPr>
          <a:xfrm>
            <a:off x="621250" y="2239514"/>
            <a:ext cx="12476383" cy="2504618"/>
            <a:chOff x="0" y="0"/>
            <a:chExt cx="16635177" cy="3339490"/>
          </a:xfrm>
        </p:grpSpPr>
        <p:grpSp>
          <p:nvGrpSpPr>
            <p:cNvPr id="6" name="Group 6"/>
            <p:cNvGrpSpPr/>
            <p:nvPr/>
          </p:nvGrpSpPr>
          <p:grpSpPr>
            <a:xfrm>
              <a:off x="264068" y="165594"/>
              <a:ext cx="16371109" cy="3173896"/>
              <a:chOff x="0" y="0"/>
              <a:chExt cx="3233799" cy="626942"/>
            </a:xfrm>
          </p:grpSpPr>
          <p:sp>
            <p:nvSpPr>
              <p:cNvPr id="7" name="Freeform 7"/>
              <p:cNvSpPr/>
              <p:nvPr/>
            </p:nvSpPr>
            <p:spPr>
              <a:xfrm>
                <a:off x="0" y="0"/>
                <a:ext cx="3233799" cy="626942"/>
              </a:xfrm>
              <a:custGeom>
                <a:avLst/>
                <a:gdLst/>
                <a:ahLst/>
                <a:cxnLst/>
                <a:rect l="l" t="t" r="r" b="b"/>
                <a:pathLst>
                  <a:path w="3233799" h="626942">
                    <a:moveTo>
                      <a:pt x="34049" y="0"/>
                    </a:moveTo>
                    <a:lnTo>
                      <a:pt x="3199750" y="0"/>
                    </a:lnTo>
                    <a:cubicBezTo>
                      <a:pt x="3218555" y="0"/>
                      <a:pt x="3233799" y="15244"/>
                      <a:pt x="3233799" y="34049"/>
                    </a:cubicBezTo>
                    <a:lnTo>
                      <a:pt x="3233799" y="592894"/>
                    </a:lnTo>
                    <a:cubicBezTo>
                      <a:pt x="3233799" y="611698"/>
                      <a:pt x="3218555" y="626942"/>
                      <a:pt x="3199750" y="626942"/>
                    </a:cubicBezTo>
                    <a:lnTo>
                      <a:pt x="34049" y="626942"/>
                    </a:lnTo>
                    <a:cubicBezTo>
                      <a:pt x="15244" y="626942"/>
                      <a:pt x="0" y="611698"/>
                      <a:pt x="0" y="592894"/>
                    </a:cubicBezTo>
                    <a:lnTo>
                      <a:pt x="0" y="34049"/>
                    </a:lnTo>
                    <a:cubicBezTo>
                      <a:pt x="0" y="15244"/>
                      <a:pt x="15244" y="0"/>
                      <a:pt x="34049" y="0"/>
                    </a:cubicBezTo>
                    <a:close/>
                  </a:path>
                </a:pathLst>
              </a:custGeom>
              <a:solidFill>
                <a:srgbClr val="000000"/>
              </a:solidFill>
            </p:spPr>
            <p:txBody>
              <a:bodyPr/>
              <a:lstStyle/>
              <a:p>
                <a:endParaRPr lang="en-CA"/>
              </a:p>
            </p:txBody>
          </p:sp>
          <p:sp>
            <p:nvSpPr>
              <p:cNvPr id="8" name="TextBox 8"/>
              <p:cNvSpPr txBox="1"/>
              <p:nvPr/>
            </p:nvSpPr>
            <p:spPr>
              <a:xfrm>
                <a:off x="0" y="-57150"/>
                <a:ext cx="3233799" cy="684092"/>
              </a:xfrm>
              <a:prstGeom prst="rect">
                <a:avLst/>
              </a:prstGeom>
            </p:spPr>
            <p:txBody>
              <a:bodyPr lIns="50800" tIns="50800" rIns="50800" bIns="50800" rtlCol="0" anchor="ctr"/>
              <a:lstStyle/>
              <a:p>
                <a:pPr algn="ctr">
                  <a:lnSpc>
                    <a:spcPts val="3500"/>
                  </a:lnSpc>
                </a:pPr>
                <a:endParaRPr/>
              </a:p>
            </p:txBody>
          </p:sp>
        </p:grpSp>
        <p:grpSp>
          <p:nvGrpSpPr>
            <p:cNvPr id="9" name="Group 9"/>
            <p:cNvGrpSpPr/>
            <p:nvPr/>
          </p:nvGrpSpPr>
          <p:grpSpPr>
            <a:xfrm>
              <a:off x="0" y="0"/>
              <a:ext cx="16197685" cy="3032518"/>
              <a:chOff x="0" y="0"/>
              <a:chExt cx="3199543" cy="599016"/>
            </a:xfrm>
          </p:grpSpPr>
          <p:sp>
            <p:nvSpPr>
              <p:cNvPr id="10" name="Freeform 10"/>
              <p:cNvSpPr/>
              <p:nvPr/>
            </p:nvSpPr>
            <p:spPr>
              <a:xfrm>
                <a:off x="0" y="0"/>
                <a:ext cx="3199543" cy="599016"/>
              </a:xfrm>
              <a:custGeom>
                <a:avLst/>
                <a:gdLst/>
                <a:ahLst/>
                <a:cxnLst/>
                <a:rect l="l" t="t" r="r" b="b"/>
                <a:pathLst>
                  <a:path w="3199543" h="599016">
                    <a:moveTo>
                      <a:pt x="34413" y="0"/>
                    </a:moveTo>
                    <a:lnTo>
                      <a:pt x="3165129" y="0"/>
                    </a:lnTo>
                    <a:cubicBezTo>
                      <a:pt x="3174256" y="0"/>
                      <a:pt x="3183009" y="3626"/>
                      <a:pt x="3189463" y="10079"/>
                    </a:cubicBezTo>
                    <a:cubicBezTo>
                      <a:pt x="3195917" y="16533"/>
                      <a:pt x="3199543" y="25286"/>
                      <a:pt x="3199543" y="34413"/>
                    </a:cubicBezTo>
                    <a:lnTo>
                      <a:pt x="3199543" y="564603"/>
                    </a:lnTo>
                    <a:cubicBezTo>
                      <a:pt x="3199543" y="573730"/>
                      <a:pt x="3195917" y="582483"/>
                      <a:pt x="3189463" y="588936"/>
                    </a:cubicBezTo>
                    <a:cubicBezTo>
                      <a:pt x="3183009" y="595390"/>
                      <a:pt x="3174256" y="599016"/>
                      <a:pt x="3165129" y="599016"/>
                    </a:cubicBezTo>
                    <a:lnTo>
                      <a:pt x="34413" y="599016"/>
                    </a:lnTo>
                    <a:cubicBezTo>
                      <a:pt x="25286" y="599016"/>
                      <a:pt x="16533" y="595390"/>
                      <a:pt x="10079" y="588936"/>
                    </a:cubicBezTo>
                    <a:cubicBezTo>
                      <a:pt x="3626" y="582483"/>
                      <a:pt x="0" y="573730"/>
                      <a:pt x="0" y="564603"/>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11" name="TextBox 11"/>
              <p:cNvSpPr txBox="1"/>
              <p:nvPr/>
            </p:nvSpPr>
            <p:spPr>
              <a:xfrm>
                <a:off x="0" y="-57150"/>
                <a:ext cx="3199543" cy="656166"/>
              </a:xfrm>
              <a:prstGeom prst="rect">
                <a:avLst/>
              </a:prstGeom>
            </p:spPr>
            <p:txBody>
              <a:bodyPr lIns="50800" tIns="50800" rIns="50800" bIns="50800" rtlCol="0" anchor="ctr"/>
              <a:lstStyle/>
              <a:p>
                <a:pPr algn="ctr">
                  <a:lnSpc>
                    <a:spcPts val="3500"/>
                  </a:lnSpc>
                </a:pPr>
                <a:endParaRPr/>
              </a:p>
            </p:txBody>
          </p:sp>
        </p:grpSp>
      </p:grpSp>
      <p:sp>
        <p:nvSpPr>
          <p:cNvPr id="12" name="TextBox 12"/>
          <p:cNvSpPr txBox="1"/>
          <p:nvPr/>
        </p:nvSpPr>
        <p:spPr>
          <a:xfrm>
            <a:off x="866959" y="2997882"/>
            <a:ext cx="11472576" cy="1353185"/>
          </a:xfrm>
          <a:prstGeom prst="rect">
            <a:avLst/>
          </a:prstGeom>
        </p:spPr>
        <p:txBody>
          <a:bodyPr lIns="0" tIns="0" rIns="0" bIns="0" rtlCol="0" anchor="t">
            <a:spAutoFit/>
          </a:bodyPr>
          <a:lstStyle/>
          <a:p>
            <a:pPr algn="ctr">
              <a:lnSpc>
                <a:spcPts val="3639"/>
              </a:lnSpc>
              <a:spcBef>
                <a:spcPct val="0"/>
              </a:spcBef>
            </a:pPr>
            <a:r>
              <a:rPr lang="en-US" sz="2599">
                <a:solidFill>
                  <a:srgbClr val="000000"/>
                </a:solidFill>
                <a:latin typeface="Montserrat"/>
                <a:ea typeface="Montserrat"/>
                <a:cs typeface="Montserrat"/>
                <a:sym typeface="Montserrat"/>
              </a:rPr>
              <a:t>Some manufacturers do not have the ability to distribute their products and services. Many small businesses assume this role for them.</a:t>
            </a:r>
          </a:p>
        </p:txBody>
      </p:sp>
      <p:sp>
        <p:nvSpPr>
          <p:cNvPr id="13" name="TextBox 13"/>
          <p:cNvSpPr txBox="1"/>
          <p:nvPr/>
        </p:nvSpPr>
        <p:spPr>
          <a:xfrm>
            <a:off x="1028700" y="2404042"/>
            <a:ext cx="10130041" cy="4387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Distributors of </a:t>
            </a:r>
            <a:r>
              <a:rPr lang="en-US" sz="2599" b="1" u="none" strike="noStrike">
                <a:solidFill>
                  <a:srgbClr val="000000"/>
                </a:solidFill>
                <a:latin typeface="Montserrat Bold"/>
                <a:ea typeface="Montserrat Bold"/>
                <a:cs typeface="Montserrat Bold"/>
                <a:sym typeface="Montserrat Bold"/>
              </a:rPr>
              <a:t>products and services of other businesses</a:t>
            </a:r>
          </a:p>
        </p:txBody>
      </p:sp>
      <p:grpSp>
        <p:nvGrpSpPr>
          <p:cNvPr id="14" name="Group 14"/>
          <p:cNvGrpSpPr/>
          <p:nvPr/>
        </p:nvGrpSpPr>
        <p:grpSpPr>
          <a:xfrm>
            <a:off x="1885535" y="5010832"/>
            <a:ext cx="12476383" cy="2185172"/>
            <a:chOff x="0" y="0"/>
            <a:chExt cx="16635177" cy="2913563"/>
          </a:xfrm>
        </p:grpSpPr>
        <p:grpSp>
          <p:nvGrpSpPr>
            <p:cNvPr id="15" name="Group 15"/>
            <p:cNvGrpSpPr/>
            <p:nvPr/>
          </p:nvGrpSpPr>
          <p:grpSpPr>
            <a:xfrm>
              <a:off x="264068" y="144474"/>
              <a:ext cx="16371109" cy="2769089"/>
              <a:chOff x="0" y="0"/>
              <a:chExt cx="3233799" cy="546980"/>
            </a:xfrm>
          </p:grpSpPr>
          <p:sp>
            <p:nvSpPr>
              <p:cNvPr id="16" name="Freeform 16"/>
              <p:cNvSpPr/>
              <p:nvPr/>
            </p:nvSpPr>
            <p:spPr>
              <a:xfrm>
                <a:off x="0" y="0"/>
                <a:ext cx="3233799" cy="546980"/>
              </a:xfrm>
              <a:custGeom>
                <a:avLst/>
                <a:gdLst/>
                <a:ahLst/>
                <a:cxnLst/>
                <a:rect l="l" t="t" r="r" b="b"/>
                <a:pathLst>
                  <a:path w="3233799" h="546980">
                    <a:moveTo>
                      <a:pt x="34049" y="0"/>
                    </a:moveTo>
                    <a:lnTo>
                      <a:pt x="3199750" y="0"/>
                    </a:lnTo>
                    <a:cubicBezTo>
                      <a:pt x="3218555" y="0"/>
                      <a:pt x="3233799" y="15244"/>
                      <a:pt x="3233799" y="34049"/>
                    </a:cubicBezTo>
                    <a:lnTo>
                      <a:pt x="3233799" y="512932"/>
                    </a:lnTo>
                    <a:cubicBezTo>
                      <a:pt x="3233799" y="531736"/>
                      <a:pt x="3218555" y="546980"/>
                      <a:pt x="3199750" y="546980"/>
                    </a:cubicBezTo>
                    <a:lnTo>
                      <a:pt x="34049" y="546980"/>
                    </a:lnTo>
                    <a:cubicBezTo>
                      <a:pt x="15244" y="546980"/>
                      <a:pt x="0" y="531736"/>
                      <a:pt x="0" y="512932"/>
                    </a:cubicBezTo>
                    <a:lnTo>
                      <a:pt x="0" y="34049"/>
                    </a:lnTo>
                    <a:cubicBezTo>
                      <a:pt x="0" y="15244"/>
                      <a:pt x="15244" y="0"/>
                      <a:pt x="34049" y="0"/>
                    </a:cubicBezTo>
                    <a:close/>
                  </a:path>
                </a:pathLst>
              </a:custGeom>
              <a:solidFill>
                <a:srgbClr val="000000"/>
              </a:solidFill>
            </p:spPr>
            <p:txBody>
              <a:bodyPr/>
              <a:lstStyle/>
              <a:p>
                <a:endParaRPr lang="en-CA"/>
              </a:p>
            </p:txBody>
          </p:sp>
          <p:sp>
            <p:nvSpPr>
              <p:cNvPr id="17" name="TextBox 17"/>
              <p:cNvSpPr txBox="1"/>
              <p:nvPr/>
            </p:nvSpPr>
            <p:spPr>
              <a:xfrm>
                <a:off x="0" y="-57150"/>
                <a:ext cx="3233799" cy="604130"/>
              </a:xfrm>
              <a:prstGeom prst="rect">
                <a:avLst/>
              </a:prstGeom>
            </p:spPr>
            <p:txBody>
              <a:bodyPr lIns="50800" tIns="50800" rIns="50800" bIns="50800" rtlCol="0" anchor="ctr"/>
              <a:lstStyle/>
              <a:p>
                <a:pPr algn="ctr">
                  <a:lnSpc>
                    <a:spcPts val="3500"/>
                  </a:lnSpc>
                </a:pPr>
                <a:endParaRPr/>
              </a:p>
            </p:txBody>
          </p:sp>
        </p:grpSp>
        <p:grpSp>
          <p:nvGrpSpPr>
            <p:cNvPr id="18" name="Group 18"/>
            <p:cNvGrpSpPr/>
            <p:nvPr/>
          </p:nvGrpSpPr>
          <p:grpSpPr>
            <a:xfrm>
              <a:off x="0" y="0"/>
              <a:ext cx="16197685" cy="2645743"/>
              <a:chOff x="0" y="0"/>
              <a:chExt cx="3199543" cy="522616"/>
            </a:xfrm>
          </p:grpSpPr>
          <p:sp>
            <p:nvSpPr>
              <p:cNvPr id="19" name="Freeform 19"/>
              <p:cNvSpPr/>
              <p:nvPr/>
            </p:nvSpPr>
            <p:spPr>
              <a:xfrm>
                <a:off x="0" y="0"/>
                <a:ext cx="3199543" cy="522616"/>
              </a:xfrm>
              <a:custGeom>
                <a:avLst/>
                <a:gdLst/>
                <a:ahLst/>
                <a:cxnLst/>
                <a:rect l="l" t="t" r="r" b="b"/>
                <a:pathLst>
                  <a:path w="3199543" h="522616">
                    <a:moveTo>
                      <a:pt x="34413" y="0"/>
                    </a:moveTo>
                    <a:lnTo>
                      <a:pt x="3165129" y="0"/>
                    </a:lnTo>
                    <a:cubicBezTo>
                      <a:pt x="3174256" y="0"/>
                      <a:pt x="3183009" y="3626"/>
                      <a:pt x="3189463" y="10079"/>
                    </a:cubicBezTo>
                    <a:cubicBezTo>
                      <a:pt x="3195917" y="16533"/>
                      <a:pt x="3199543" y="25286"/>
                      <a:pt x="3199543" y="34413"/>
                    </a:cubicBezTo>
                    <a:lnTo>
                      <a:pt x="3199543" y="488202"/>
                    </a:lnTo>
                    <a:cubicBezTo>
                      <a:pt x="3199543" y="497329"/>
                      <a:pt x="3195917" y="506083"/>
                      <a:pt x="3189463" y="512536"/>
                    </a:cubicBezTo>
                    <a:cubicBezTo>
                      <a:pt x="3183009" y="518990"/>
                      <a:pt x="3174256" y="522616"/>
                      <a:pt x="3165129" y="522616"/>
                    </a:cubicBezTo>
                    <a:lnTo>
                      <a:pt x="34413" y="522616"/>
                    </a:lnTo>
                    <a:cubicBezTo>
                      <a:pt x="25286" y="522616"/>
                      <a:pt x="16533" y="518990"/>
                      <a:pt x="10079" y="512536"/>
                    </a:cubicBezTo>
                    <a:cubicBezTo>
                      <a:pt x="3626" y="506083"/>
                      <a:pt x="0" y="497329"/>
                      <a:pt x="0" y="488202"/>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20" name="TextBox 20"/>
              <p:cNvSpPr txBox="1"/>
              <p:nvPr/>
            </p:nvSpPr>
            <p:spPr>
              <a:xfrm>
                <a:off x="0" y="-57150"/>
                <a:ext cx="3199543" cy="579766"/>
              </a:xfrm>
              <a:prstGeom prst="rect">
                <a:avLst/>
              </a:prstGeom>
            </p:spPr>
            <p:txBody>
              <a:bodyPr lIns="50800" tIns="50800" rIns="50800" bIns="50800" rtlCol="0" anchor="ctr"/>
              <a:lstStyle/>
              <a:p>
                <a:pPr algn="ctr">
                  <a:lnSpc>
                    <a:spcPts val="3500"/>
                  </a:lnSpc>
                </a:pPr>
                <a:endParaRPr/>
              </a:p>
            </p:txBody>
          </p:sp>
        </p:grpSp>
      </p:grpSp>
      <p:grpSp>
        <p:nvGrpSpPr>
          <p:cNvPr id="21" name="Group 21"/>
          <p:cNvGrpSpPr/>
          <p:nvPr/>
        </p:nvGrpSpPr>
        <p:grpSpPr>
          <a:xfrm>
            <a:off x="2905809" y="7461012"/>
            <a:ext cx="12476383" cy="2490124"/>
            <a:chOff x="0" y="0"/>
            <a:chExt cx="16635177" cy="3320166"/>
          </a:xfrm>
        </p:grpSpPr>
        <p:grpSp>
          <p:nvGrpSpPr>
            <p:cNvPr id="22" name="Group 22"/>
            <p:cNvGrpSpPr/>
            <p:nvPr/>
          </p:nvGrpSpPr>
          <p:grpSpPr>
            <a:xfrm>
              <a:off x="264068" y="164636"/>
              <a:ext cx="16371109" cy="3155530"/>
              <a:chOff x="0" y="0"/>
              <a:chExt cx="3233799" cy="623315"/>
            </a:xfrm>
          </p:grpSpPr>
          <p:sp>
            <p:nvSpPr>
              <p:cNvPr id="23" name="Freeform 23"/>
              <p:cNvSpPr/>
              <p:nvPr/>
            </p:nvSpPr>
            <p:spPr>
              <a:xfrm>
                <a:off x="0" y="0"/>
                <a:ext cx="3233799" cy="623315"/>
              </a:xfrm>
              <a:custGeom>
                <a:avLst/>
                <a:gdLst/>
                <a:ahLst/>
                <a:cxnLst/>
                <a:rect l="l" t="t" r="r" b="b"/>
                <a:pathLst>
                  <a:path w="3233799" h="623315">
                    <a:moveTo>
                      <a:pt x="34049" y="0"/>
                    </a:moveTo>
                    <a:lnTo>
                      <a:pt x="3199750" y="0"/>
                    </a:lnTo>
                    <a:cubicBezTo>
                      <a:pt x="3218555" y="0"/>
                      <a:pt x="3233799" y="15244"/>
                      <a:pt x="3233799" y="34049"/>
                    </a:cubicBezTo>
                    <a:lnTo>
                      <a:pt x="3233799" y="589266"/>
                    </a:lnTo>
                    <a:cubicBezTo>
                      <a:pt x="3233799" y="608070"/>
                      <a:pt x="3218555" y="623315"/>
                      <a:pt x="3199750" y="623315"/>
                    </a:cubicBezTo>
                    <a:lnTo>
                      <a:pt x="34049" y="623315"/>
                    </a:lnTo>
                    <a:cubicBezTo>
                      <a:pt x="15244" y="623315"/>
                      <a:pt x="0" y="608070"/>
                      <a:pt x="0" y="589266"/>
                    </a:cubicBezTo>
                    <a:lnTo>
                      <a:pt x="0" y="34049"/>
                    </a:lnTo>
                    <a:cubicBezTo>
                      <a:pt x="0" y="15244"/>
                      <a:pt x="15244" y="0"/>
                      <a:pt x="34049" y="0"/>
                    </a:cubicBezTo>
                    <a:close/>
                  </a:path>
                </a:pathLst>
              </a:custGeom>
              <a:solidFill>
                <a:srgbClr val="000000"/>
              </a:solidFill>
            </p:spPr>
            <p:txBody>
              <a:bodyPr/>
              <a:lstStyle/>
              <a:p>
                <a:endParaRPr lang="en-CA"/>
              </a:p>
            </p:txBody>
          </p:sp>
          <p:sp>
            <p:nvSpPr>
              <p:cNvPr id="24" name="TextBox 24"/>
              <p:cNvSpPr txBox="1"/>
              <p:nvPr/>
            </p:nvSpPr>
            <p:spPr>
              <a:xfrm>
                <a:off x="0" y="-57150"/>
                <a:ext cx="3233799" cy="680465"/>
              </a:xfrm>
              <a:prstGeom prst="rect">
                <a:avLst/>
              </a:prstGeom>
            </p:spPr>
            <p:txBody>
              <a:bodyPr lIns="50800" tIns="50800" rIns="50800" bIns="50800" rtlCol="0" anchor="ctr"/>
              <a:lstStyle/>
              <a:p>
                <a:pPr algn="ctr">
                  <a:lnSpc>
                    <a:spcPts val="3500"/>
                  </a:lnSpc>
                </a:pPr>
                <a:endParaRPr/>
              </a:p>
            </p:txBody>
          </p:sp>
        </p:grpSp>
        <p:grpSp>
          <p:nvGrpSpPr>
            <p:cNvPr id="25" name="Group 25"/>
            <p:cNvGrpSpPr/>
            <p:nvPr/>
          </p:nvGrpSpPr>
          <p:grpSpPr>
            <a:xfrm>
              <a:off x="0" y="0"/>
              <a:ext cx="16197685" cy="3014970"/>
              <a:chOff x="0" y="0"/>
              <a:chExt cx="3199543" cy="595550"/>
            </a:xfrm>
          </p:grpSpPr>
          <p:sp>
            <p:nvSpPr>
              <p:cNvPr id="26" name="Freeform 26"/>
              <p:cNvSpPr/>
              <p:nvPr/>
            </p:nvSpPr>
            <p:spPr>
              <a:xfrm>
                <a:off x="0" y="0"/>
                <a:ext cx="3199543" cy="595550"/>
              </a:xfrm>
              <a:custGeom>
                <a:avLst/>
                <a:gdLst/>
                <a:ahLst/>
                <a:cxnLst/>
                <a:rect l="l" t="t" r="r" b="b"/>
                <a:pathLst>
                  <a:path w="3199543" h="595550">
                    <a:moveTo>
                      <a:pt x="34413" y="0"/>
                    </a:moveTo>
                    <a:lnTo>
                      <a:pt x="3165129" y="0"/>
                    </a:lnTo>
                    <a:cubicBezTo>
                      <a:pt x="3174256" y="0"/>
                      <a:pt x="3183009" y="3626"/>
                      <a:pt x="3189463" y="10079"/>
                    </a:cubicBezTo>
                    <a:cubicBezTo>
                      <a:pt x="3195917" y="16533"/>
                      <a:pt x="3199543" y="25286"/>
                      <a:pt x="3199543" y="34413"/>
                    </a:cubicBezTo>
                    <a:lnTo>
                      <a:pt x="3199543" y="561136"/>
                    </a:lnTo>
                    <a:cubicBezTo>
                      <a:pt x="3199543" y="570263"/>
                      <a:pt x="3195917" y="579016"/>
                      <a:pt x="3189463" y="585470"/>
                    </a:cubicBezTo>
                    <a:cubicBezTo>
                      <a:pt x="3183009" y="591924"/>
                      <a:pt x="3174256" y="595550"/>
                      <a:pt x="3165129" y="595550"/>
                    </a:cubicBezTo>
                    <a:lnTo>
                      <a:pt x="34413" y="595550"/>
                    </a:lnTo>
                    <a:cubicBezTo>
                      <a:pt x="25286" y="595550"/>
                      <a:pt x="16533" y="591924"/>
                      <a:pt x="10079" y="585470"/>
                    </a:cubicBezTo>
                    <a:cubicBezTo>
                      <a:pt x="3626" y="579016"/>
                      <a:pt x="0" y="570263"/>
                      <a:pt x="0" y="561136"/>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27" name="TextBox 27"/>
              <p:cNvSpPr txBox="1"/>
              <p:nvPr/>
            </p:nvSpPr>
            <p:spPr>
              <a:xfrm>
                <a:off x="0" y="-57150"/>
                <a:ext cx="3199543" cy="652700"/>
              </a:xfrm>
              <a:prstGeom prst="rect">
                <a:avLst/>
              </a:prstGeom>
            </p:spPr>
            <p:txBody>
              <a:bodyPr lIns="50800" tIns="50800" rIns="50800" bIns="50800" rtlCol="0" anchor="ctr"/>
              <a:lstStyle/>
              <a:p>
                <a:pPr algn="ctr">
                  <a:lnSpc>
                    <a:spcPts val="3500"/>
                  </a:lnSpc>
                </a:pPr>
                <a:endParaRPr/>
              </a:p>
            </p:txBody>
          </p:sp>
        </p:grpSp>
      </p:grpSp>
      <p:sp>
        <p:nvSpPr>
          <p:cNvPr id="28" name="TextBox 28"/>
          <p:cNvSpPr txBox="1"/>
          <p:nvPr/>
        </p:nvSpPr>
        <p:spPr>
          <a:xfrm>
            <a:off x="2539914" y="5128858"/>
            <a:ext cx="10130041" cy="4387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 Su</a:t>
            </a:r>
            <a:r>
              <a:rPr lang="en-US" sz="2599" b="1" u="none" strike="noStrike">
                <a:solidFill>
                  <a:srgbClr val="000000"/>
                </a:solidFill>
                <a:latin typeface="Montserrat Bold"/>
                <a:ea typeface="Montserrat Bold"/>
                <a:cs typeface="Montserrat Bold"/>
                <a:sym typeface="Montserrat Bold"/>
              </a:rPr>
              <a:t>pporters of government</a:t>
            </a:r>
          </a:p>
        </p:txBody>
      </p:sp>
      <p:sp>
        <p:nvSpPr>
          <p:cNvPr id="29" name="TextBox 29"/>
          <p:cNvSpPr txBox="1"/>
          <p:nvPr/>
        </p:nvSpPr>
        <p:spPr>
          <a:xfrm>
            <a:off x="3926924" y="7584837"/>
            <a:ext cx="10130041" cy="4387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Providers of employme</a:t>
            </a:r>
            <a:r>
              <a:rPr lang="en-US" sz="2599" b="1" u="none" strike="noStrike">
                <a:solidFill>
                  <a:srgbClr val="000000"/>
                </a:solidFill>
                <a:latin typeface="Montserrat Bold"/>
                <a:ea typeface="Montserrat Bold"/>
                <a:cs typeface="Montserrat Bold"/>
                <a:sym typeface="Montserrat Bold"/>
              </a:rPr>
              <a:t>nt</a:t>
            </a:r>
          </a:p>
        </p:txBody>
      </p:sp>
      <p:sp>
        <p:nvSpPr>
          <p:cNvPr id="30" name="TextBox 30"/>
          <p:cNvSpPr txBox="1"/>
          <p:nvPr/>
        </p:nvSpPr>
        <p:spPr>
          <a:xfrm>
            <a:off x="2539914" y="5740809"/>
            <a:ext cx="11167624" cy="931545"/>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Montserrat"/>
                <a:ea typeface="Montserrat"/>
                <a:cs typeface="Montserrat"/>
                <a:sym typeface="Montserrat"/>
              </a:rPr>
              <a:t>Small businesses support the government with the taxes they pay, as well as performing other functions.</a:t>
            </a:r>
          </a:p>
        </p:txBody>
      </p:sp>
      <p:sp>
        <p:nvSpPr>
          <p:cNvPr id="31" name="TextBox 31"/>
          <p:cNvSpPr txBox="1"/>
          <p:nvPr/>
        </p:nvSpPr>
        <p:spPr>
          <a:xfrm>
            <a:off x="3408133" y="8291195"/>
            <a:ext cx="11167624" cy="967105"/>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Montserrat"/>
                <a:ea typeface="Montserrat"/>
                <a:cs typeface="Montserrat"/>
                <a:sym typeface="Montserrat"/>
              </a:rPr>
              <a:t> A large proportion of the labor force are employed by small businesses.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868033" y="3397767"/>
            <a:ext cx="4228519" cy="1745733"/>
          </a:xfrm>
          <a:custGeom>
            <a:avLst/>
            <a:gdLst/>
            <a:ahLst/>
            <a:cxnLst/>
            <a:rect l="l" t="t" r="r" b="b"/>
            <a:pathLst>
              <a:path w="4228519" h="1745733">
                <a:moveTo>
                  <a:pt x="0" y="0"/>
                </a:moveTo>
                <a:lnTo>
                  <a:pt x="4228518" y="0"/>
                </a:lnTo>
                <a:lnTo>
                  <a:pt x="4228518" y="1745733"/>
                </a:lnTo>
                <a:lnTo>
                  <a:pt x="0" y="1745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rot="-1365811">
            <a:off x="15220969" y="-129023"/>
            <a:ext cx="2873101" cy="4114800"/>
          </a:xfrm>
          <a:custGeom>
            <a:avLst/>
            <a:gdLst/>
            <a:ahLst/>
            <a:cxnLst/>
            <a:rect l="l" t="t" r="r" b="b"/>
            <a:pathLst>
              <a:path w="2873101" h="4114800">
                <a:moveTo>
                  <a:pt x="0" y="0"/>
                </a:moveTo>
                <a:lnTo>
                  <a:pt x="2873101" y="0"/>
                </a:lnTo>
                <a:lnTo>
                  <a:pt x="28731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4" name="Freeform 4"/>
          <p:cNvSpPr/>
          <p:nvPr/>
        </p:nvSpPr>
        <p:spPr>
          <a:xfrm rot="-803655">
            <a:off x="173235" y="297379"/>
            <a:ext cx="2382893" cy="2329658"/>
          </a:xfrm>
          <a:custGeom>
            <a:avLst/>
            <a:gdLst/>
            <a:ahLst/>
            <a:cxnLst/>
            <a:rect l="l" t="t" r="r" b="b"/>
            <a:pathLst>
              <a:path w="2382893" h="2329658">
                <a:moveTo>
                  <a:pt x="0" y="0"/>
                </a:moveTo>
                <a:lnTo>
                  <a:pt x="2382893" y="0"/>
                </a:lnTo>
                <a:lnTo>
                  <a:pt x="2382893" y="2329658"/>
                </a:lnTo>
                <a:lnTo>
                  <a:pt x="0" y="23296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5" name="TextBox 5"/>
          <p:cNvSpPr txBox="1"/>
          <p:nvPr/>
        </p:nvSpPr>
        <p:spPr>
          <a:xfrm>
            <a:off x="2965003" y="269122"/>
            <a:ext cx="11402476" cy="1659255"/>
          </a:xfrm>
          <a:prstGeom prst="rect">
            <a:avLst/>
          </a:prstGeom>
        </p:spPr>
        <p:txBody>
          <a:bodyPr lIns="0" tIns="0" rIns="0" bIns="0" rtlCol="0" anchor="t">
            <a:spAutoFit/>
          </a:bodyPr>
          <a:lstStyle/>
          <a:p>
            <a:pPr algn="ctr">
              <a:lnSpc>
                <a:spcPts val="6719"/>
              </a:lnSpc>
              <a:spcBef>
                <a:spcPct val="0"/>
              </a:spcBef>
            </a:pPr>
            <a:r>
              <a:rPr lang="en-US" sz="4800" b="1">
                <a:solidFill>
                  <a:srgbClr val="000000"/>
                </a:solidFill>
                <a:latin typeface="Montserrat Bold"/>
                <a:ea typeface="Montserrat Bold"/>
                <a:cs typeface="Montserrat Bold"/>
                <a:sym typeface="Montserrat Bold"/>
              </a:rPr>
              <a:t>ADVANTAGES OF OPERATING A SMALL BUSINESS</a:t>
            </a:r>
          </a:p>
        </p:txBody>
      </p:sp>
      <p:sp>
        <p:nvSpPr>
          <p:cNvPr id="6" name="TextBox 6"/>
          <p:cNvSpPr txBox="1"/>
          <p:nvPr/>
        </p:nvSpPr>
        <p:spPr>
          <a:xfrm>
            <a:off x="4541602" y="2076014"/>
            <a:ext cx="8247145" cy="1543050"/>
          </a:xfrm>
          <a:prstGeom prst="rect">
            <a:avLst/>
          </a:prstGeom>
        </p:spPr>
        <p:txBody>
          <a:bodyPr lIns="0" tIns="0" rIns="0" bIns="0" rtlCol="0" anchor="t">
            <a:spAutoFit/>
          </a:bodyPr>
          <a:lstStyle/>
          <a:p>
            <a:pPr algn="ctr">
              <a:lnSpc>
                <a:spcPts val="4199"/>
              </a:lnSpc>
              <a:spcBef>
                <a:spcPct val="0"/>
              </a:spcBef>
            </a:pPr>
            <a:r>
              <a:rPr lang="en-US" sz="2999">
                <a:solidFill>
                  <a:srgbClr val="000000"/>
                </a:solidFill>
                <a:latin typeface="Montserrat"/>
                <a:ea typeface="Montserrat"/>
                <a:cs typeface="Montserrat"/>
                <a:sym typeface="Montserrat"/>
              </a:rPr>
              <a:t>An individual has various options to improve his economic lot. They are the following:</a:t>
            </a:r>
          </a:p>
        </p:txBody>
      </p:sp>
      <p:sp>
        <p:nvSpPr>
          <p:cNvPr id="7" name="TextBox 7"/>
          <p:cNvSpPr txBox="1"/>
          <p:nvPr/>
        </p:nvSpPr>
        <p:spPr>
          <a:xfrm>
            <a:off x="0" y="3893311"/>
            <a:ext cx="5964584" cy="488315"/>
          </a:xfrm>
          <a:prstGeom prst="rect">
            <a:avLst/>
          </a:prstGeom>
        </p:spPr>
        <p:txBody>
          <a:bodyPr lIns="0" tIns="0" rIns="0" bIns="0" rtlCol="0" anchor="t">
            <a:spAutoFit/>
          </a:bodyPr>
          <a:lstStyle/>
          <a:p>
            <a:pPr marL="0" lvl="0" indent="0" algn="ctr">
              <a:lnSpc>
                <a:spcPts val="4059"/>
              </a:lnSpc>
              <a:spcBef>
                <a:spcPct val="0"/>
              </a:spcBef>
            </a:pPr>
            <a:r>
              <a:rPr lang="en-US" sz="2899" b="1">
                <a:solidFill>
                  <a:srgbClr val="000000"/>
                </a:solidFill>
                <a:latin typeface="Montserrat Bold"/>
                <a:ea typeface="Montserrat Bold"/>
                <a:cs typeface="Montserrat Bold"/>
                <a:sym typeface="Montserrat Bold"/>
              </a:rPr>
              <a:t>be an employee</a:t>
            </a:r>
          </a:p>
        </p:txBody>
      </p:sp>
      <p:sp>
        <p:nvSpPr>
          <p:cNvPr id="8" name="Freeform 8"/>
          <p:cNvSpPr/>
          <p:nvPr/>
        </p:nvSpPr>
        <p:spPr>
          <a:xfrm>
            <a:off x="6304302" y="4170547"/>
            <a:ext cx="4228519" cy="1745733"/>
          </a:xfrm>
          <a:custGeom>
            <a:avLst/>
            <a:gdLst/>
            <a:ahLst/>
            <a:cxnLst/>
            <a:rect l="l" t="t" r="r" b="b"/>
            <a:pathLst>
              <a:path w="4228519" h="1745733">
                <a:moveTo>
                  <a:pt x="0" y="0"/>
                </a:moveTo>
                <a:lnTo>
                  <a:pt x="4228518" y="0"/>
                </a:lnTo>
                <a:lnTo>
                  <a:pt x="4228518" y="1745734"/>
                </a:lnTo>
                <a:lnTo>
                  <a:pt x="0" y="17457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9" name="TextBox 9"/>
          <p:cNvSpPr txBox="1"/>
          <p:nvPr/>
        </p:nvSpPr>
        <p:spPr>
          <a:xfrm>
            <a:off x="5436269" y="4667376"/>
            <a:ext cx="5964584" cy="488315"/>
          </a:xfrm>
          <a:prstGeom prst="rect">
            <a:avLst/>
          </a:prstGeom>
        </p:spPr>
        <p:txBody>
          <a:bodyPr lIns="0" tIns="0" rIns="0" bIns="0" rtlCol="0" anchor="t">
            <a:spAutoFit/>
          </a:bodyPr>
          <a:lstStyle/>
          <a:p>
            <a:pPr marL="0" lvl="0" indent="0" algn="ctr">
              <a:lnSpc>
                <a:spcPts val="4059"/>
              </a:lnSpc>
              <a:spcBef>
                <a:spcPct val="0"/>
              </a:spcBef>
            </a:pPr>
            <a:r>
              <a:rPr lang="en-US" sz="2899" b="1">
                <a:solidFill>
                  <a:srgbClr val="000000"/>
                </a:solidFill>
                <a:latin typeface="Montserrat Bold"/>
                <a:ea typeface="Montserrat Bold"/>
                <a:cs typeface="Montserrat Bold"/>
                <a:sym typeface="Montserrat Bold"/>
              </a:rPr>
              <a:t>be a professional</a:t>
            </a:r>
          </a:p>
        </p:txBody>
      </p:sp>
      <p:sp>
        <p:nvSpPr>
          <p:cNvPr id="10" name="Freeform 10"/>
          <p:cNvSpPr/>
          <p:nvPr/>
        </p:nvSpPr>
        <p:spPr>
          <a:xfrm>
            <a:off x="11793446" y="3397767"/>
            <a:ext cx="4228519" cy="1745733"/>
          </a:xfrm>
          <a:custGeom>
            <a:avLst/>
            <a:gdLst/>
            <a:ahLst/>
            <a:cxnLst/>
            <a:rect l="l" t="t" r="r" b="b"/>
            <a:pathLst>
              <a:path w="4228519" h="1745733">
                <a:moveTo>
                  <a:pt x="0" y="0"/>
                </a:moveTo>
                <a:lnTo>
                  <a:pt x="4228519" y="0"/>
                </a:lnTo>
                <a:lnTo>
                  <a:pt x="4228519" y="1745733"/>
                </a:lnTo>
                <a:lnTo>
                  <a:pt x="0" y="1745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1" name="TextBox 11"/>
          <p:cNvSpPr txBox="1"/>
          <p:nvPr/>
        </p:nvSpPr>
        <p:spPr>
          <a:xfrm>
            <a:off x="12102015" y="3488313"/>
            <a:ext cx="3611381" cy="1517015"/>
          </a:xfrm>
          <a:prstGeom prst="rect">
            <a:avLst/>
          </a:prstGeom>
        </p:spPr>
        <p:txBody>
          <a:bodyPr lIns="0" tIns="0" rIns="0" bIns="0" rtlCol="0" anchor="t">
            <a:spAutoFit/>
          </a:bodyPr>
          <a:lstStyle/>
          <a:p>
            <a:pPr marL="0" lvl="0" indent="0" algn="ctr">
              <a:lnSpc>
                <a:spcPts val="4059"/>
              </a:lnSpc>
              <a:spcBef>
                <a:spcPct val="0"/>
              </a:spcBef>
            </a:pPr>
            <a:r>
              <a:rPr lang="en-US" sz="2899" b="1">
                <a:solidFill>
                  <a:srgbClr val="000000"/>
                </a:solidFill>
                <a:latin typeface="Montserrat Bold"/>
                <a:ea typeface="Montserrat Bold"/>
                <a:cs typeface="Montserrat Bold"/>
                <a:sym typeface="Montserrat Bold"/>
              </a:rPr>
              <a:t>be a small business operator (SBO)</a:t>
            </a:r>
          </a:p>
        </p:txBody>
      </p:sp>
      <p:sp>
        <p:nvSpPr>
          <p:cNvPr id="12" name="TextBox 12"/>
          <p:cNvSpPr txBox="1"/>
          <p:nvPr/>
        </p:nvSpPr>
        <p:spPr>
          <a:xfrm>
            <a:off x="691226" y="6516356"/>
            <a:ext cx="17259300" cy="2527933"/>
          </a:xfrm>
          <a:prstGeom prst="rect">
            <a:avLst/>
          </a:prstGeom>
        </p:spPr>
        <p:txBody>
          <a:bodyPr lIns="0" tIns="0" rIns="0" bIns="0" rtlCol="0" anchor="t">
            <a:spAutoFit/>
          </a:bodyPr>
          <a:lstStyle/>
          <a:p>
            <a:pPr algn="ctr">
              <a:lnSpc>
                <a:spcPts val="5040"/>
              </a:lnSpc>
              <a:spcBef>
                <a:spcPct val="0"/>
              </a:spcBef>
            </a:pPr>
            <a:r>
              <a:rPr lang="en-US" sz="3600">
                <a:solidFill>
                  <a:srgbClr val="000000"/>
                </a:solidFill>
                <a:latin typeface="Montserrat"/>
                <a:ea typeface="Montserrat"/>
                <a:cs typeface="Montserrat"/>
                <a:sym typeface="Montserrat"/>
              </a:rPr>
              <a:t>An employee enjoys a fixed working schedule like 8:00 A.M. to 5:00 P.M. The pay he receives, however, is limited and dependent to a large extent on industry norms and the financial capability of the company. In some firms, the employee's pay depends on the whims of the owner.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rot="-1365811">
            <a:off x="15220969" y="-129023"/>
            <a:ext cx="2873101" cy="4114800"/>
          </a:xfrm>
          <a:custGeom>
            <a:avLst/>
            <a:gdLst/>
            <a:ahLst/>
            <a:cxnLst/>
            <a:rect l="l" t="t" r="r" b="b"/>
            <a:pathLst>
              <a:path w="2873101" h="4114800">
                <a:moveTo>
                  <a:pt x="0" y="0"/>
                </a:moveTo>
                <a:lnTo>
                  <a:pt x="2873101" y="0"/>
                </a:lnTo>
                <a:lnTo>
                  <a:pt x="287310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rot="-803655">
            <a:off x="173235" y="297379"/>
            <a:ext cx="2382893" cy="2329658"/>
          </a:xfrm>
          <a:custGeom>
            <a:avLst/>
            <a:gdLst/>
            <a:ahLst/>
            <a:cxnLst/>
            <a:rect l="l" t="t" r="r" b="b"/>
            <a:pathLst>
              <a:path w="2382893" h="2329658">
                <a:moveTo>
                  <a:pt x="0" y="0"/>
                </a:moveTo>
                <a:lnTo>
                  <a:pt x="2382893" y="0"/>
                </a:lnTo>
                <a:lnTo>
                  <a:pt x="2382893" y="2329658"/>
                </a:lnTo>
                <a:lnTo>
                  <a:pt x="0" y="23296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4" name="Freeform 4"/>
          <p:cNvSpPr/>
          <p:nvPr/>
        </p:nvSpPr>
        <p:spPr>
          <a:xfrm>
            <a:off x="5239678" y="1928377"/>
            <a:ext cx="8278315" cy="8157816"/>
          </a:xfrm>
          <a:custGeom>
            <a:avLst/>
            <a:gdLst/>
            <a:ahLst/>
            <a:cxnLst/>
            <a:rect l="l" t="t" r="r" b="b"/>
            <a:pathLst>
              <a:path w="8278315" h="8157816">
                <a:moveTo>
                  <a:pt x="0" y="0"/>
                </a:moveTo>
                <a:lnTo>
                  <a:pt x="8278314" y="0"/>
                </a:lnTo>
                <a:lnTo>
                  <a:pt x="8278314" y="8157815"/>
                </a:lnTo>
                <a:lnTo>
                  <a:pt x="0" y="8157815"/>
                </a:lnTo>
                <a:lnTo>
                  <a:pt x="0" y="0"/>
                </a:lnTo>
                <a:close/>
              </a:path>
            </a:pathLst>
          </a:custGeom>
          <a:blipFill>
            <a:blip r:embed="rId6"/>
            <a:stretch>
              <a:fillRect l="-2620" t="-869" r="-609"/>
            </a:stretch>
          </a:blipFill>
        </p:spPr>
        <p:txBody>
          <a:bodyPr/>
          <a:lstStyle/>
          <a:p>
            <a:endParaRPr lang="en-CA"/>
          </a:p>
        </p:txBody>
      </p:sp>
      <p:sp>
        <p:nvSpPr>
          <p:cNvPr id="5" name="TextBox 5"/>
          <p:cNvSpPr txBox="1"/>
          <p:nvPr/>
        </p:nvSpPr>
        <p:spPr>
          <a:xfrm>
            <a:off x="2965003" y="269122"/>
            <a:ext cx="11402476" cy="1659255"/>
          </a:xfrm>
          <a:prstGeom prst="rect">
            <a:avLst/>
          </a:prstGeom>
        </p:spPr>
        <p:txBody>
          <a:bodyPr lIns="0" tIns="0" rIns="0" bIns="0" rtlCol="0" anchor="t">
            <a:spAutoFit/>
          </a:bodyPr>
          <a:lstStyle/>
          <a:p>
            <a:pPr algn="ctr">
              <a:lnSpc>
                <a:spcPts val="6719"/>
              </a:lnSpc>
              <a:spcBef>
                <a:spcPct val="0"/>
              </a:spcBef>
            </a:pPr>
            <a:r>
              <a:rPr lang="en-US" sz="4800" b="1">
                <a:solidFill>
                  <a:srgbClr val="000000"/>
                </a:solidFill>
                <a:latin typeface="Montserrat Bold"/>
                <a:ea typeface="Montserrat Bold"/>
                <a:cs typeface="Montserrat Bold"/>
                <a:sym typeface="Montserrat Bold"/>
              </a:rPr>
              <a:t>ADVANTAGES OF OPERATING A SMALL BUSINESS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1195501" y="415375"/>
            <a:ext cx="8170939" cy="1972356"/>
          </a:xfrm>
          <a:custGeom>
            <a:avLst/>
            <a:gdLst/>
            <a:ahLst/>
            <a:cxnLst/>
            <a:rect l="l" t="t" r="r" b="b"/>
            <a:pathLst>
              <a:path w="8170939" h="1972356">
                <a:moveTo>
                  <a:pt x="0" y="0"/>
                </a:moveTo>
                <a:lnTo>
                  <a:pt x="8170938" y="0"/>
                </a:lnTo>
                <a:lnTo>
                  <a:pt x="8170938" y="1972356"/>
                </a:lnTo>
                <a:lnTo>
                  <a:pt x="0" y="1972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8323903" y="-63998"/>
            <a:ext cx="2852507" cy="2185396"/>
          </a:xfrm>
          <a:custGeom>
            <a:avLst/>
            <a:gdLst/>
            <a:ahLst/>
            <a:cxnLst/>
            <a:rect l="l" t="t" r="r" b="b"/>
            <a:pathLst>
              <a:path w="2852507" h="2185396">
                <a:moveTo>
                  <a:pt x="0" y="0"/>
                </a:moveTo>
                <a:lnTo>
                  <a:pt x="2852507" y="0"/>
                </a:lnTo>
                <a:lnTo>
                  <a:pt x="2852507" y="2185396"/>
                </a:lnTo>
                <a:lnTo>
                  <a:pt x="0" y="21853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4" name="Freeform 4"/>
          <p:cNvSpPr/>
          <p:nvPr/>
        </p:nvSpPr>
        <p:spPr>
          <a:xfrm>
            <a:off x="614775" y="3862655"/>
            <a:ext cx="827850" cy="2976297"/>
          </a:xfrm>
          <a:custGeom>
            <a:avLst/>
            <a:gdLst/>
            <a:ahLst/>
            <a:cxnLst/>
            <a:rect l="l" t="t" r="r" b="b"/>
            <a:pathLst>
              <a:path w="827850" h="2976297">
                <a:moveTo>
                  <a:pt x="0" y="0"/>
                </a:moveTo>
                <a:lnTo>
                  <a:pt x="827850" y="0"/>
                </a:lnTo>
                <a:lnTo>
                  <a:pt x="827850" y="2976296"/>
                </a:lnTo>
                <a:lnTo>
                  <a:pt x="0" y="29762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5" name="TextBox 5"/>
          <p:cNvSpPr txBox="1"/>
          <p:nvPr/>
        </p:nvSpPr>
        <p:spPr>
          <a:xfrm>
            <a:off x="1627691" y="726865"/>
            <a:ext cx="7306558" cy="1180466"/>
          </a:xfrm>
          <a:prstGeom prst="rect">
            <a:avLst/>
          </a:prstGeom>
        </p:spPr>
        <p:txBody>
          <a:bodyPr lIns="0" tIns="0" rIns="0" bIns="0" rtlCol="0" anchor="t">
            <a:spAutoFit/>
          </a:bodyPr>
          <a:lstStyle/>
          <a:p>
            <a:pPr algn="ctr">
              <a:lnSpc>
                <a:spcPts val="4759"/>
              </a:lnSpc>
              <a:spcBef>
                <a:spcPct val="0"/>
              </a:spcBef>
            </a:pPr>
            <a:r>
              <a:rPr lang="en-US" sz="3399" b="1">
                <a:solidFill>
                  <a:srgbClr val="000000"/>
                </a:solidFill>
                <a:latin typeface="Open Sans Bold"/>
                <a:ea typeface="Open Sans Bold"/>
                <a:cs typeface="Open Sans Bold"/>
                <a:sym typeface="Open Sans Bold"/>
              </a:rPr>
              <a:t>SMALL BUSINESS AND ITS IMPORTANCE TO THE ECONOMY</a:t>
            </a:r>
          </a:p>
        </p:txBody>
      </p:sp>
      <p:sp>
        <p:nvSpPr>
          <p:cNvPr id="6" name="TextBox 6"/>
          <p:cNvSpPr txBox="1"/>
          <p:nvPr/>
        </p:nvSpPr>
        <p:spPr>
          <a:xfrm>
            <a:off x="1739827" y="2519909"/>
            <a:ext cx="16272118" cy="7159712"/>
          </a:xfrm>
          <a:prstGeom prst="rect">
            <a:avLst/>
          </a:prstGeom>
        </p:spPr>
        <p:txBody>
          <a:bodyPr lIns="0" tIns="0" rIns="0" bIns="0" rtlCol="0" anchor="t">
            <a:spAutoFit/>
          </a:bodyPr>
          <a:lstStyle/>
          <a:p>
            <a:pPr algn="l">
              <a:lnSpc>
                <a:spcPts val="4370"/>
              </a:lnSpc>
            </a:pPr>
            <a:r>
              <a:rPr lang="en-US" sz="3121">
                <a:solidFill>
                  <a:srgbClr val="000000"/>
                </a:solidFill>
                <a:latin typeface="Open Sans"/>
                <a:ea typeface="Open Sans"/>
                <a:cs typeface="Open Sans"/>
                <a:sym typeface="Open Sans"/>
              </a:rPr>
              <a:t>A professional may earn higher income through the practice of his skills, such as a physician treating patients in a clinic. However, his income is limited by the number of patients he can attend to, and he cannot easily provide employment beyond a few assistants. Employment and professions, in general, are also difficult to pursue because of high job rejection rates and the long years of study and examinations required. The last option, small business operation, may have fewer entry requirements, but it still demands long hours, difficult decision-making, and full responsibility for risks and losses.However, he is afforded the following benefits: </a:t>
            </a:r>
          </a:p>
          <a:p>
            <a:pPr algn="l">
              <a:lnSpc>
                <a:spcPts val="4370"/>
              </a:lnSpc>
            </a:pPr>
            <a:endParaRPr lang="en-US" sz="3121">
              <a:solidFill>
                <a:srgbClr val="000000"/>
              </a:solidFill>
              <a:latin typeface="Open Sans"/>
              <a:ea typeface="Open Sans"/>
              <a:cs typeface="Open Sans"/>
              <a:sym typeface="Open Sans"/>
            </a:endParaRPr>
          </a:p>
          <a:p>
            <a:pPr algn="l">
              <a:lnSpc>
                <a:spcPts val="4370"/>
              </a:lnSpc>
            </a:pPr>
            <a:r>
              <a:rPr lang="en-US" sz="3121">
                <a:solidFill>
                  <a:srgbClr val="000000"/>
                </a:solidFill>
                <a:latin typeface="Open Sans"/>
                <a:ea typeface="Open Sans"/>
                <a:cs typeface="Open Sans"/>
                <a:sym typeface="Open Sans"/>
              </a:rPr>
              <a:t>1. opportunity to gain control over his own destiny,</a:t>
            </a:r>
          </a:p>
          <a:p>
            <a:pPr algn="l">
              <a:lnSpc>
                <a:spcPts val="4370"/>
              </a:lnSpc>
            </a:pPr>
            <a:r>
              <a:rPr lang="en-US" sz="3121">
                <a:solidFill>
                  <a:srgbClr val="000000"/>
                </a:solidFill>
                <a:latin typeface="Open Sans"/>
                <a:ea typeface="Open Sans"/>
                <a:cs typeface="Open Sans"/>
                <a:sym typeface="Open Sans"/>
              </a:rPr>
              <a:t> 2. opportunity to reach his full potential, </a:t>
            </a:r>
          </a:p>
          <a:p>
            <a:pPr algn="l">
              <a:lnSpc>
                <a:spcPts val="4370"/>
              </a:lnSpc>
            </a:pPr>
            <a:r>
              <a:rPr lang="en-US" sz="3121">
                <a:solidFill>
                  <a:srgbClr val="000000"/>
                </a:solidFill>
                <a:latin typeface="Open Sans"/>
                <a:ea typeface="Open Sans"/>
                <a:cs typeface="Open Sans"/>
                <a:sym typeface="Open Sans"/>
              </a:rPr>
              <a:t>3. opportunity to reap unlimited profits, and </a:t>
            </a:r>
          </a:p>
          <a:p>
            <a:pPr algn="l">
              <a:lnSpc>
                <a:spcPts val="4370"/>
              </a:lnSpc>
              <a:spcBef>
                <a:spcPct val="0"/>
              </a:spcBef>
            </a:pPr>
            <a:r>
              <a:rPr lang="en-US" sz="3121">
                <a:solidFill>
                  <a:srgbClr val="000000"/>
                </a:solidFill>
                <a:latin typeface="Open Sans"/>
                <a:ea typeface="Open Sans"/>
                <a:cs typeface="Open Sans"/>
                <a:sym typeface="Open Sans"/>
              </a:rPr>
              <a:t>4. opportunity to make a contribution to society and receive recognition for his efforts.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11158741" y="601070"/>
            <a:ext cx="10057429" cy="9541986"/>
          </a:xfrm>
          <a:custGeom>
            <a:avLst/>
            <a:gdLst/>
            <a:ahLst/>
            <a:cxnLst/>
            <a:rect l="l" t="t" r="r" b="b"/>
            <a:pathLst>
              <a:path w="10057429" h="9541986">
                <a:moveTo>
                  <a:pt x="0" y="0"/>
                </a:moveTo>
                <a:lnTo>
                  <a:pt x="10057430" y="0"/>
                </a:lnTo>
                <a:lnTo>
                  <a:pt x="10057430" y="9541986"/>
                </a:lnTo>
                <a:lnTo>
                  <a:pt x="0" y="9541986"/>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418349" y="271372"/>
            <a:ext cx="12476383" cy="2179976"/>
            <a:chOff x="0" y="0"/>
            <a:chExt cx="16635177" cy="2906634"/>
          </a:xfrm>
        </p:grpSpPr>
        <p:grpSp>
          <p:nvGrpSpPr>
            <p:cNvPr id="4" name="Group 4"/>
            <p:cNvGrpSpPr/>
            <p:nvPr/>
          </p:nvGrpSpPr>
          <p:grpSpPr>
            <a:xfrm>
              <a:off x="264068" y="144130"/>
              <a:ext cx="16371109" cy="2762504"/>
              <a:chOff x="0" y="0"/>
              <a:chExt cx="3233799" cy="545680"/>
            </a:xfrm>
          </p:grpSpPr>
          <p:sp>
            <p:nvSpPr>
              <p:cNvPr id="5" name="Freeform 5"/>
              <p:cNvSpPr/>
              <p:nvPr/>
            </p:nvSpPr>
            <p:spPr>
              <a:xfrm>
                <a:off x="0" y="0"/>
                <a:ext cx="3233799" cy="545680"/>
              </a:xfrm>
              <a:custGeom>
                <a:avLst/>
                <a:gdLst/>
                <a:ahLst/>
                <a:cxnLst/>
                <a:rect l="l" t="t" r="r" b="b"/>
                <a:pathLst>
                  <a:path w="3233799" h="545680">
                    <a:moveTo>
                      <a:pt x="34049" y="0"/>
                    </a:moveTo>
                    <a:lnTo>
                      <a:pt x="3199750" y="0"/>
                    </a:lnTo>
                    <a:cubicBezTo>
                      <a:pt x="3218555" y="0"/>
                      <a:pt x="3233799" y="15244"/>
                      <a:pt x="3233799" y="34049"/>
                    </a:cubicBezTo>
                    <a:lnTo>
                      <a:pt x="3233799" y="511631"/>
                    </a:lnTo>
                    <a:cubicBezTo>
                      <a:pt x="3233799" y="530436"/>
                      <a:pt x="3218555" y="545680"/>
                      <a:pt x="3199750" y="545680"/>
                    </a:cubicBezTo>
                    <a:lnTo>
                      <a:pt x="34049" y="545680"/>
                    </a:lnTo>
                    <a:cubicBezTo>
                      <a:pt x="15244" y="545680"/>
                      <a:pt x="0" y="530436"/>
                      <a:pt x="0" y="511631"/>
                    </a:cubicBezTo>
                    <a:lnTo>
                      <a:pt x="0" y="34049"/>
                    </a:lnTo>
                    <a:cubicBezTo>
                      <a:pt x="0" y="15244"/>
                      <a:pt x="15244" y="0"/>
                      <a:pt x="34049" y="0"/>
                    </a:cubicBezTo>
                    <a:close/>
                  </a:path>
                </a:pathLst>
              </a:custGeom>
              <a:solidFill>
                <a:srgbClr val="000000"/>
              </a:solidFill>
            </p:spPr>
            <p:txBody>
              <a:bodyPr/>
              <a:lstStyle/>
              <a:p>
                <a:endParaRPr lang="en-CA"/>
              </a:p>
            </p:txBody>
          </p:sp>
          <p:sp>
            <p:nvSpPr>
              <p:cNvPr id="6" name="TextBox 6"/>
              <p:cNvSpPr txBox="1"/>
              <p:nvPr/>
            </p:nvSpPr>
            <p:spPr>
              <a:xfrm>
                <a:off x="0" y="-57150"/>
                <a:ext cx="3233799" cy="602830"/>
              </a:xfrm>
              <a:prstGeom prst="rect">
                <a:avLst/>
              </a:prstGeom>
            </p:spPr>
            <p:txBody>
              <a:bodyPr lIns="50800" tIns="50800" rIns="50800" bIns="50800" rtlCol="0" anchor="ctr"/>
              <a:lstStyle/>
              <a:p>
                <a:pPr algn="ctr">
                  <a:lnSpc>
                    <a:spcPts val="3500"/>
                  </a:lnSpc>
                </a:pPr>
                <a:endParaRPr/>
              </a:p>
            </p:txBody>
          </p:sp>
        </p:grpSp>
        <p:grpSp>
          <p:nvGrpSpPr>
            <p:cNvPr id="7" name="Group 7"/>
            <p:cNvGrpSpPr/>
            <p:nvPr/>
          </p:nvGrpSpPr>
          <p:grpSpPr>
            <a:xfrm>
              <a:off x="0" y="0"/>
              <a:ext cx="16197685" cy="2639451"/>
              <a:chOff x="0" y="0"/>
              <a:chExt cx="3199543" cy="521373"/>
            </a:xfrm>
          </p:grpSpPr>
          <p:sp>
            <p:nvSpPr>
              <p:cNvPr id="8" name="Freeform 8"/>
              <p:cNvSpPr/>
              <p:nvPr/>
            </p:nvSpPr>
            <p:spPr>
              <a:xfrm>
                <a:off x="0" y="0"/>
                <a:ext cx="3199543" cy="521373"/>
              </a:xfrm>
              <a:custGeom>
                <a:avLst/>
                <a:gdLst/>
                <a:ahLst/>
                <a:cxnLst/>
                <a:rect l="l" t="t" r="r" b="b"/>
                <a:pathLst>
                  <a:path w="3199543" h="521373">
                    <a:moveTo>
                      <a:pt x="34413" y="0"/>
                    </a:moveTo>
                    <a:lnTo>
                      <a:pt x="3165129" y="0"/>
                    </a:lnTo>
                    <a:cubicBezTo>
                      <a:pt x="3174256" y="0"/>
                      <a:pt x="3183009" y="3626"/>
                      <a:pt x="3189463" y="10079"/>
                    </a:cubicBezTo>
                    <a:cubicBezTo>
                      <a:pt x="3195917" y="16533"/>
                      <a:pt x="3199543" y="25286"/>
                      <a:pt x="3199543" y="34413"/>
                    </a:cubicBezTo>
                    <a:lnTo>
                      <a:pt x="3199543" y="486960"/>
                    </a:lnTo>
                    <a:cubicBezTo>
                      <a:pt x="3199543" y="496087"/>
                      <a:pt x="3195917" y="504840"/>
                      <a:pt x="3189463" y="511294"/>
                    </a:cubicBezTo>
                    <a:cubicBezTo>
                      <a:pt x="3183009" y="517747"/>
                      <a:pt x="3174256" y="521373"/>
                      <a:pt x="3165129" y="521373"/>
                    </a:cubicBezTo>
                    <a:lnTo>
                      <a:pt x="34413" y="521373"/>
                    </a:lnTo>
                    <a:cubicBezTo>
                      <a:pt x="25286" y="521373"/>
                      <a:pt x="16533" y="517747"/>
                      <a:pt x="10079" y="511294"/>
                    </a:cubicBezTo>
                    <a:cubicBezTo>
                      <a:pt x="3626" y="504840"/>
                      <a:pt x="0" y="496087"/>
                      <a:pt x="0" y="486960"/>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9" name="TextBox 9"/>
              <p:cNvSpPr txBox="1"/>
              <p:nvPr/>
            </p:nvSpPr>
            <p:spPr>
              <a:xfrm>
                <a:off x="0" y="-57150"/>
                <a:ext cx="3199543" cy="578523"/>
              </a:xfrm>
              <a:prstGeom prst="rect">
                <a:avLst/>
              </a:prstGeom>
            </p:spPr>
            <p:txBody>
              <a:bodyPr lIns="50800" tIns="50800" rIns="50800" bIns="50800" rtlCol="0" anchor="ctr"/>
              <a:lstStyle/>
              <a:p>
                <a:pPr algn="ctr">
                  <a:lnSpc>
                    <a:spcPts val="3500"/>
                  </a:lnSpc>
                </a:pPr>
                <a:endParaRPr/>
              </a:p>
            </p:txBody>
          </p:sp>
        </p:grpSp>
      </p:grpSp>
      <p:sp>
        <p:nvSpPr>
          <p:cNvPr id="10" name="TextBox 10"/>
          <p:cNvSpPr txBox="1"/>
          <p:nvPr/>
        </p:nvSpPr>
        <p:spPr>
          <a:xfrm>
            <a:off x="664058" y="1029739"/>
            <a:ext cx="11472576" cy="895985"/>
          </a:xfrm>
          <a:prstGeom prst="rect">
            <a:avLst/>
          </a:prstGeom>
        </p:spPr>
        <p:txBody>
          <a:bodyPr lIns="0" tIns="0" rIns="0" bIns="0" rtlCol="0" anchor="t">
            <a:spAutoFit/>
          </a:bodyPr>
          <a:lstStyle/>
          <a:p>
            <a:pPr algn="ctr">
              <a:lnSpc>
                <a:spcPts val="3639"/>
              </a:lnSpc>
              <a:spcBef>
                <a:spcPct val="0"/>
              </a:spcBef>
            </a:pPr>
            <a:r>
              <a:rPr lang="en-US" sz="2599">
                <a:solidFill>
                  <a:srgbClr val="000000"/>
                </a:solidFill>
                <a:latin typeface="Montserrat"/>
                <a:ea typeface="Montserrat"/>
                <a:cs typeface="Montserrat"/>
                <a:sym typeface="Montserrat"/>
              </a:rPr>
              <a:t>The owner can freely choose, change, or dissolve a business unlike employees or professionals.</a:t>
            </a:r>
          </a:p>
        </p:txBody>
      </p:sp>
      <p:sp>
        <p:nvSpPr>
          <p:cNvPr id="11" name="TextBox 11"/>
          <p:cNvSpPr txBox="1"/>
          <p:nvPr/>
        </p:nvSpPr>
        <p:spPr>
          <a:xfrm>
            <a:off x="825799" y="435899"/>
            <a:ext cx="10130041" cy="4387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opportunity </a:t>
            </a:r>
            <a:r>
              <a:rPr lang="en-US" sz="2599" b="1" u="none" strike="noStrike">
                <a:solidFill>
                  <a:srgbClr val="000000"/>
                </a:solidFill>
                <a:latin typeface="Montserrat Bold"/>
                <a:ea typeface="Montserrat Bold"/>
                <a:cs typeface="Montserrat Bold"/>
                <a:sym typeface="Montserrat Bold"/>
              </a:rPr>
              <a:t>to gain control over his own destiny</a:t>
            </a:r>
          </a:p>
        </p:txBody>
      </p:sp>
      <p:grpSp>
        <p:nvGrpSpPr>
          <p:cNvPr id="12" name="Group 12"/>
          <p:cNvGrpSpPr/>
          <p:nvPr/>
        </p:nvGrpSpPr>
        <p:grpSpPr>
          <a:xfrm>
            <a:off x="1844354" y="2651372"/>
            <a:ext cx="12476383" cy="2185172"/>
            <a:chOff x="0" y="0"/>
            <a:chExt cx="16635177" cy="2913563"/>
          </a:xfrm>
        </p:grpSpPr>
        <p:grpSp>
          <p:nvGrpSpPr>
            <p:cNvPr id="13" name="Group 13"/>
            <p:cNvGrpSpPr/>
            <p:nvPr/>
          </p:nvGrpSpPr>
          <p:grpSpPr>
            <a:xfrm>
              <a:off x="264068" y="144474"/>
              <a:ext cx="16371109" cy="2769089"/>
              <a:chOff x="0" y="0"/>
              <a:chExt cx="3233799" cy="546980"/>
            </a:xfrm>
          </p:grpSpPr>
          <p:sp>
            <p:nvSpPr>
              <p:cNvPr id="14" name="Freeform 14"/>
              <p:cNvSpPr/>
              <p:nvPr/>
            </p:nvSpPr>
            <p:spPr>
              <a:xfrm>
                <a:off x="0" y="0"/>
                <a:ext cx="3233799" cy="546980"/>
              </a:xfrm>
              <a:custGeom>
                <a:avLst/>
                <a:gdLst/>
                <a:ahLst/>
                <a:cxnLst/>
                <a:rect l="l" t="t" r="r" b="b"/>
                <a:pathLst>
                  <a:path w="3233799" h="546980">
                    <a:moveTo>
                      <a:pt x="34049" y="0"/>
                    </a:moveTo>
                    <a:lnTo>
                      <a:pt x="3199750" y="0"/>
                    </a:lnTo>
                    <a:cubicBezTo>
                      <a:pt x="3218555" y="0"/>
                      <a:pt x="3233799" y="15244"/>
                      <a:pt x="3233799" y="34049"/>
                    </a:cubicBezTo>
                    <a:lnTo>
                      <a:pt x="3233799" y="512932"/>
                    </a:lnTo>
                    <a:cubicBezTo>
                      <a:pt x="3233799" y="531736"/>
                      <a:pt x="3218555" y="546980"/>
                      <a:pt x="3199750" y="546980"/>
                    </a:cubicBezTo>
                    <a:lnTo>
                      <a:pt x="34049" y="546980"/>
                    </a:lnTo>
                    <a:cubicBezTo>
                      <a:pt x="15244" y="546980"/>
                      <a:pt x="0" y="531736"/>
                      <a:pt x="0" y="512932"/>
                    </a:cubicBezTo>
                    <a:lnTo>
                      <a:pt x="0" y="34049"/>
                    </a:lnTo>
                    <a:cubicBezTo>
                      <a:pt x="0" y="15244"/>
                      <a:pt x="15244" y="0"/>
                      <a:pt x="34049" y="0"/>
                    </a:cubicBezTo>
                    <a:close/>
                  </a:path>
                </a:pathLst>
              </a:custGeom>
              <a:solidFill>
                <a:srgbClr val="000000"/>
              </a:solidFill>
            </p:spPr>
            <p:txBody>
              <a:bodyPr/>
              <a:lstStyle/>
              <a:p>
                <a:endParaRPr lang="en-CA"/>
              </a:p>
            </p:txBody>
          </p:sp>
          <p:sp>
            <p:nvSpPr>
              <p:cNvPr id="15" name="TextBox 15"/>
              <p:cNvSpPr txBox="1"/>
              <p:nvPr/>
            </p:nvSpPr>
            <p:spPr>
              <a:xfrm>
                <a:off x="0" y="-57150"/>
                <a:ext cx="3233799" cy="604130"/>
              </a:xfrm>
              <a:prstGeom prst="rect">
                <a:avLst/>
              </a:prstGeom>
            </p:spPr>
            <p:txBody>
              <a:bodyPr lIns="50800" tIns="50800" rIns="50800" bIns="50800" rtlCol="0" anchor="ctr"/>
              <a:lstStyle/>
              <a:p>
                <a:pPr algn="ctr">
                  <a:lnSpc>
                    <a:spcPts val="3500"/>
                  </a:lnSpc>
                </a:pPr>
                <a:endParaRPr/>
              </a:p>
            </p:txBody>
          </p:sp>
        </p:grpSp>
        <p:grpSp>
          <p:nvGrpSpPr>
            <p:cNvPr id="16" name="Group 16"/>
            <p:cNvGrpSpPr/>
            <p:nvPr/>
          </p:nvGrpSpPr>
          <p:grpSpPr>
            <a:xfrm>
              <a:off x="0" y="0"/>
              <a:ext cx="16197685" cy="2645743"/>
              <a:chOff x="0" y="0"/>
              <a:chExt cx="3199543" cy="522616"/>
            </a:xfrm>
          </p:grpSpPr>
          <p:sp>
            <p:nvSpPr>
              <p:cNvPr id="17" name="Freeform 17"/>
              <p:cNvSpPr/>
              <p:nvPr/>
            </p:nvSpPr>
            <p:spPr>
              <a:xfrm>
                <a:off x="0" y="0"/>
                <a:ext cx="3199543" cy="522616"/>
              </a:xfrm>
              <a:custGeom>
                <a:avLst/>
                <a:gdLst/>
                <a:ahLst/>
                <a:cxnLst/>
                <a:rect l="l" t="t" r="r" b="b"/>
                <a:pathLst>
                  <a:path w="3199543" h="522616">
                    <a:moveTo>
                      <a:pt x="34413" y="0"/>
                    </a:moveTo>
                    <a:lnTo>
                      <a:pt x="3165129" y="0"/>
                    </a:lnTo>
                    <a:cubicBezTo>
                      <a:pt x="3174256" y="0"/>
                      <a:pt x="3183009" y="3626"/>
                      <a:pt x="3189463" y="10079"/>
                    </a:cubicBezTo>
                    <a:cubicBezTo>
                      <a:pt x="3195917" y="16533"/>
                      <a:pt x="3199543" y="25286"/>
                      <a:pt x="3199543" y="34413"/>
                    </a:cubicBezTo>
                    <a:lnTo>
                      <a:pt x="3199543" y="488202"/>
                    </a:lnTo>
                    <a:cubicBezTo>
                      <a:pt x="3199543" y="497329"/>
                      <a:pt x="3195917" y="506083"/>
                      <a:pt x="3189463" y="512536"/>
                    </a:cubicBezTo>
                    <a:cubicBezTo>
                      <a:pt x="3183009" y="518990"/>
                      <a:pt x="3174256" y="522616"/>
                      <a:pt x="3165129" y="522616"/>
                    </a:cubicBezTo>
                    <a:lnTo>
                      <a:pt x="34413" y="522616"/>
                    </a:lnTo>
                    <a:cubicBezTo>
                      <a:pt x="25286" y="522616"/>
                      <a:pt x="16533" y="518990"/>
                      <a:pt x="10079" y="512536"/>
                    </a:cubicBezTo>
                    <a:cubicBezTo>
                      <a:pt x="3626" y="506083"/>
                      <a:pt x="0" y="497329"/>
                      <a:pt x="0" y="488202"/>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18" name="TextBox 18"/>
              <p:cNvSpPr txBox="1"/>
              <p:nvPr/>
            </p:nvSpPr>
            <p:spPr>
              <a:xfrm>
                <a:off x="0" y="-57150"/>
                <a:ext cx="3199543" cy="579766"/>
              </a:xfrm>
              <a:prstGeom prst="rect">
                <a:avLst/>
              </a:prstGeom>
            </p:spPr>
            <p:txBody>
              <a:bodyPr lIns="50800" tIns="50800" rIns="50800" bIns="50800" rtlCol="0" anchor="ctr"/>
              <a:lstStyle/>
              <a:p>
                <a:pPr algn="ctr">
                  <a:lnSpc>
                    <a:spcPts val="3500"/>
                  </a:lnSpc>
                </a:pPr>
                <a:endParaRPr/>
              </a:p>
            </p:txBody>
          </p:sp>
        </p:grpSp>
      </p:grpSp>
      <p:grpSp>
        <p:nvGrpSpPr>
          <p:cNvPr id="19" name="Group 19"/>
          <p:cNvGrpSpPr/>
          <p:nvPr/>
        </p:nvGrpSpPr>
        <p:grpSpPr>
          <a:xfrm>
            <a:off x="3169580" y="5107523"/>
            <a:ext cx="12476383" cy="2307513"/>
            <a:chOff x="0" y="0"/>
            <a:chExt cx="16635177" cy="3076684"/>
          </a:xfrm>
        </p:grpSpPr>
        <p:grpSp>
          <p:nvGrpSpPr>
            <p:cNvPr id="20" name="Group 20"/>
            <p:cNvGrpSpPr/>
            <p:nvPr/>
          </p:nvGrpSpPr>
          <p:grpSpPr>
            <a:xfrm>
              <a:off x="264068" y="152562"/>
              <a:ext cx="16371109" cy="2924122"/>
              <a:chOff x="0" y="0"/>
              <a:chExt cx="3233799" cy="577604"/>
            </a:xfrm>
          </p:grpSpPr>
          <p:sp>
            <p:nvSpPr>
              <p:cNvPr id="21" name="Freeform 21"/>
              <p:cNvSpPr/>
              <p:nvPr/>
            </p:nvSpPr>
            <p:spPr>
              <a:xfrm>
                <a:off x="0" y="0"/>
                <a:ext cx="3233799" cy="577604"/>
              </a:xfrm>
              <a:custGeom>
                <a:avLst/>
                <a:gdLst/>
                <a:ahLst/>
                <a:cxnLst/>
                <a:rect l="l" t="t" r="r" b="b"/>
                <a:pathLst>
                  <a:path w="3233799" h="577604">
                    <a:moveTo>
                      <a:pt x="34049" y="0"/>
                    </a:moveTo>
                    <a:lnTo>
                      <a:pt x="3199750" y="0"/>
                    </a:lnTo>
                    <a:cubicBezTo>
                      <a:pt x="3218555" y="0"/>
                      <a:pt x="3233799" y="15244"/>
                      <a:pt x="3233799" y="34049"/>
                    </a:cubicBezTo>
                    <a:lnTo>
                      <a:pt x="3233799" y="543555"/>
                    </a:lnTo>
                    <a:cubicBezTo>
                      <a:pt x="3233799" y="562360"/>
                      <a:pt x="3218555" y="577604"/>
                      <a:pt x="3199750" y="577604"/>
                    </a:cubicBezTo>
                    <a:lnTo>
                      <a:pt x="34049" y="577604"/>
                    </a:lnTo>
                    <a:cubicBezTo>
                      <a:pt x="15244" y="577604"/>
                      <a:pt x="0" y="562360"/>
                      <a:pt x="0" y="543555"/>
                    </a:cubicBezTo>
                    <a:lnTo>
                      <a:pt x="0" y="34049"/>
                    </a:lnTo>
                    <a:cubicBezTo>
                      <a:pt x="0" y="15244"/>
                      <a:pt x="15244" y="0"/>
                      <a:pt x="34049" y="0"/>
                    </a:cubicBezTo>
                    <a:close/>
                  </a:path>
                </a:pathLst>
              </a:custGeom>
              <a:solidFill>
                <a:srgbClr val="000000"/>
              </a:solidFill>
            </p:spPr>
            <p:txBody>
              <a:bodyPr/>
              <a:lstStyle/>
              <a:p>
                <a:endParaRPr lang="en-CA"/>
              </a:p>
            </p:txBody>
          </p:sp>
          <p:sp>
            <p:nvSpPr>
              <p:cNvPr id="22" name="TextBox 22"/>
              <p:cNvSpPr txBox="1"/>
              <p:nvPr/>
            </p:nvSpPr>
            <p:spPr>
              <a:xfrm>
                <a:off x="0" y="-57150"/>
                <a:ext cx="3233799" cy="634754"/>
              </a:xfrm>
              <a:prstGeom prst="rect">
                <a:avLst/>
              </a:prstGeom>
            </p:spPr>
            <p:txBody>
              <a:bodyPr lIns="50800" tIns="50800" rIns="50800" bIns="50800" rtlCol="0" anchor="ctr"/>
              <a:lstStyle/>
              <a:p>
                <a:pPr algn="ctr">
                  <a:lnSpc>
                    <a:spcPts val="3500"/>
                  </a:lnSpc>
                </a:pPr>
                <a:endParaRPr/>
              </a:p>
            </p:txBody>
          </p:sp>
        </p:grpSp>
        <p:grpSp>
          <p:nvGrpSpPr>
            <p:cNvPr id="23" name="Group 23"/>
            <p:cNvGrpSpPr/>
            <p:nvPr/>
          </p:nvGrpSpPr>
          <p:grpSpPr>
            <a:xfrm>
              <a:off x="0" y="0"/>
              <a:ext cx="16197685" cy="2793870"/>
              <a:chOff x="0" y="0"/>
              <a:chExt cx="3199543" cy="551876"/>
            </a:xfrm>
          </p:grpSpPr>
          <p:sp>
            <p:nvSpPr>
              <p:cNvPr id="24" name="Freeform 24"/>
              <p:cNvSpPr/>
              <p:nvPr/>
            </p:nvSpPr>
            <p:spPr>
              <a:xfrm>
                <a:off x="0" y="0"/>
                <a:ext cx="3199543" cy="551876"/>
              </a:xfrm>
              <a:custGeom>
                <a:avLst/>
                <a:gdLst/>
                <a:ahLst/>
                <a:cxnLst/>
                <a:rect l="l" t="t" r="r" b="b"/>
                <a:pathLst>
                  <a:path w="3199543" h="551876">
                    <a:moveTo>
                      <a:pt x="34413" y="0"/>
                    </a:moveTo>
                    <a:lnTo>
                      <a:pt x="3165129" y="0"/>
                    </a:lnTo>
                    <a:cubicBezTo>
                      <a:pt x="3174256" y="0"/>
                      <a:pt x="3183009" y="3626"/>
                      <a:pt x="3189463" y="10079"/>
                    </a:cubicBezTo>
                    <a:cubicBezTo>
                      <a:pt x="3195917" y="16533"/>
                      <a:pt x="3199543" y="25286"/>
                      <a:pt x="3199543" y="34413"/>
                    </a:cubicBezTo>
                    <a:lnTo>
                      <a:pt x="3199543" y="517462"/>
                    </a:lnTo>
                    <a:cubicBezTo>
                      <a:pt x="3199543" y="526589"/>
                      <a:pt x="3195917" y="535342"/>
                      <a:pt x="3189463" y="541796"/>
                    </a:cubicBezTo>
                    <a:cubicBezTo>
                      <a:pt x="3183009" y="548250"/>
                      <a:pt x="3174256" y="551876"/>
                      <a:pt x="3165129" y="551876"/>
                    </a:cubicBezTo>
                    <a:lnTo>
                      <a:pt x="34413" y="551876"/>
                    </a:lnTo>
                    <a:cubicBezTo>
                      <a:pt x="25286" y="551876"/>
                      <a:pt x="16533" y="548250"/>
                      <a:pt x="10079" y="541796"/>
                    </a:cubicBezTo>
                    <a:cubicBezTo>
                      <a:pt x="3626" y="535342"/>
                      <a:pt x="0" y="526589"/>
                      <a:pt x="0" y="517462"/>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25" name="TextBox 25"/>
              <p:cNvSpPr txBox="1"/>
              <p:nvPr/>
            </p:nvSpPr>
            <p:spPr>
              <a:xfrm>
                <a:off x="0" y="-57150"/>
                <a:ext cx="3199543" cy="609026"/>
              </a:xfrm>
              <a:prstGeom prst="rect">
                <a:avLst/>
              </a:prstGeom>
            </p:spPr>
            <p:txBody>
              <a:bodyPr lIns="50800" tIns="50800" rIns="50800" bIns="50800" rtlCol="0" anchor="ctr"/>
              <a:lstStyle/>
              <a:p>
                <a:pPr algn="ctr">
                  <a:lnSpc>
                    <a:spcPts val="3500"/>
                  </a:lnSpc>
                </a:pPr>
                <a:endParaRPr/>
              </a:p>
            </p:txBody>
          </p:sp>
        </p:grpSp>
      </p:grpSp>
      <p:sp>
        <p:nvSpPr>
          <p:cNvPr id="26" name="TextBox 26"/>
          <p:cNvSpPr txBox="1"/>
          <p:nvPr/>
        </p:nvSpPr>
        <p:spPr>
          <a:xfrm>
            <a:off x="2498734" y="2769398"/>
            <a:ext cx="10130041" cy="4387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o</a:t>
            </a:r>
            <a:r>
              <a:rPr lang="en-US" sz="2599" b="1" u="none" strike="noStrike">
                <a:solidFill>
                  <a:srgbClr val="000000"/>
                </a:solidFill>
                <a:latin typeface="Montserrat Bold"/>
                <a:ea typeface="Montserrat Bold"/>
                <a:cs typeface="Montserrat Bold"/>
                <a:sym typeface="Montserrat Bold"/>
              </a:rPr>
              <a:t>pportunity to reach his full potential</a:t>
            </a:r>
          </a:p>
        </p:txBody>
      </p:sp>
      <p:sp>
        <p:nvSpPr>
          <p:cNvPr id="27" name="TextBox 27"/>
          <p:cNvSpPr txBox="1"/>
          <p:nvPr/>
        </p:nvSpPr>
        <p:spPr>
          <a:xfrm>
            <a:off x="4190695" y="5231348"/>
            <a:ext cx="10130041" cy="4387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opportunity to reap unlimited profi</a:t>
            </a:r>
            <a:r>
              <a:rPr lang="en-US" sz="2599" b="1" u="none" strike="noStrike">
                <a:solidFill>
                  <a:srgbClr val="000000"/>
                </a:solidFill>
                <a:latin typeface="Montserrat Bold"/>
                <a:ea typeface="Montserrat Bold"/>
                <a:cs typeface="Montserrat Bold"/>
                <a:sym typeface="Montserrat Bold"/>
              </a:rPr>
              <a:t>ts</a:t>
            </a:r>
          </a:p>
        </p:txBody>
      </p:sp>
      <p:sp>
        <p:nvSpPr>
          <p:cNvPr id="28" name="TextBox 28"/>
          <p:cNvSpPr txBox="1"/>
          <p:nvPr/>
        </p:nvSpPr>
        <p:spPr>
          <a:xfrm>
            <a:off x="2498734" y="3360583"/>
            <a:ext cx="11167624" cy="931545"/>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Montserrat"/>
                <a:ea typeface="Montserrat"/>
                <a:cs typeface="Montserrat"/>
                <a:sym typeface="Montserrat"/>
              </a:rPr>
              <a:t>Success depends on the operator’s own skills and decisions, not fixed job targets.</a:t>
            </a:r>
          </a:p>
        </p:txBody>
      </p:sp>
      <p:sp>
        <p:nvSpPr>
          <p:cNvPr id="29" name="TextBox 29"/>
          <p:cNvSpPr txBox="1"/>
          <p:nvPr/>
        </p:nvSpPr>
        <p:spPr>
          <a:xfrm>
            <a:off x="3671904" y="5937706"/>
            <a:ext cx="11167624" cy="967105"/>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Montserrat"/>
                <a:ea typeface="Montserrat"/>
                <a:cs typeface="Montserrat"/>
                <a:sym typeface="Montserrat"/>
              </a:rPr>
              <a:t>All earnings belong to the owner, with the chance to increase profits through effort.</a:t>
            </a:r>
          </a:p>
        </p:txBody>
      </p:sp>
      <p:grpSp>
        <p:nvGrpSpPr>
          <p:cNvPr id="30" name="Group 30"/>
          <p:cNvGrpSpPr/>
          <p:nvPr/>
        </p:nvGrpSpPr>
        <p:grpSpPr>
          <a:xfrm>
            <a:off x="4708124" y="7624356"/>
            <a:ext cx="12476383" cy="2490124"/>
            <a:chOff x="0" y="0"/>
            <a:chExt cx="16635177" cy="3320166"/>
          </a:xfrm>
        </p:grpSpPr>
        <p:grpSp>
          <p:nvGrpSpPr>
            <p:cNvPr id="31" name="Group 31"/>
            <p:cNvGrpSpPr/>
            <p:nvPr/>
          </p:nvGrpSpPr>
          <p:grpSpPr>
            <a:xfrm>
              <a:off x="264068" y="164636"/>
              <a:ext cx="16371109" cy="3155530"/>
              <a:chOff x="0" y="0"/>
              <a:chExt cx="3233799" cy="623315"/>
            </a:xfrm>
          </p:grpSpPr>
          <p:sp>
            <p:nvSpPr>
              <p:cNvPr id="32" name="Freeform 32"/>
              <p:cNvSpPr/>
              <p:nvPr/>
            </p:nvSpPr>
            <p:spPr>
              <a:xfrm>
                <a:off x="0" y="0"/>
                <a:ext cx="3233799" cy="623315"/>
              </a:xfrm>
              <a:custGeom>
                <a:avLst/>
                <a:gdLst/>
                <a:ahLst/>
                <a:cxnLst/>
                <a:rect l="l" t="t" r="r" b="b"/>
                <a:pathLst>
                  <a:path w="3233799" h="623315">
                    <a:moveTo>
                      <a:pt x="34049" y="0"/>
                    </a:moveTo>
                    <a:lnTo>
                      <a:pt x="3199750" y="0"/>
                    </a:lnTo>
                    <a:cubicBezTo>
                      <a:pt x="3218555" y="0"/>
                      <a:pt x="3233799" y="15244"/>
                      <a:pt x="3233799" y="34049"/>
                    </a:cubicBezTo>
                    <a:lnTo>
                      <a:pt x="3233799" y="589266"/>
                    </a:lnTo>
                    <a:cubicBezTo>
                      <a:pt x="3233799" y="608070"/>
                      <a:pt x="3218555" y="623315"/>
                      <a:pt x="3199750" y="623315"/>
                    </a:cubicBezTo>
                    <a:lnTo>
                      <a:pt x="34049" y="623315"/>
                    </a:lnTo>
                    <a:cubicBezTo>
                      <a:pt x="15244" y="623315"/>
                      <a:pt x="0" y="608070"/>
                      <a:pt x="0" y="589266"/>
                    </a:cubicBezTo>
                    <a:lnTo>
                      <a:pt x="0" y="34049"/>
                    </a:lnTo>
                    <a:cubicBezTo>
                      <a:pt x="0" y="15244"/>
                      <a:pt x="15244" y="0"/>
                      <a:pt x="34049" y="0"/>
                    </a:cubicBezTo>
                    <a:close/>
                  </a:path>
                </a:pathLst>
              </a:custGeom>
              <a:solidFill>
                <a:srgbClr val="000000"/>
              </a:solidFill>
            </p:spPr>
            <p:txBody>
              <a:bodyPr/>
              <a:lstStyle/>
              <a:p>
                <a:endParaRPr lang="en-CA"/>
              </a:p>
            </p:txBody>
          </p:sp>
          <p:sp>
            <p:nvSpPr>
              <p:cNvPr id="33" name="TextBox 33"/>
              <p:cNvSpPr txBox="1"/>
              <p:nvPr/>
            </p:nvSpPr>
            <p:spPr>
              <a:xfrm>
                <a:off x="0" y="-57150"/>
                <a:ext cx="3233799" cy="680465"/>
              </a:xfrm>
              <a:prstGeom prst="rect">
                <a:avLst/>
              </a:prstGeom>
            </p:spPr>
            <p:txBody>
              <a:bodyPr lIns="50800" tIns="50800" rIns="50800" bIns="50800" rtlCol="0" anchor="ctr"/>
              <a:lstStyle/>
              <a:p>
                <a:pPr algn="ctr">
                  <a:lnSpc>
                    <a:spcPts val="3500"/>
                  </a:lnSpc>
                </a:pPr>
                <a:endParaRPr/>
              </a:p>
            </p:txBody>
          </p:sp>
        </p:grpSp>
        <p:grpSp>
          <p:nvGrpSpPr>
            <p:cNvPr id="34" name="Group 34"/>
            <p:cNvGrpSpPr/>
            <p:nvPr/>
          </p:nvGrpSpPr>
          <p:grpSpPr>
            <a:xfrm>
              <a:off x="0" y="0"/>
              <a:ext cx="16197685" cy="3014970"/>
              <a:chOff x="0" y="0"/>
              <a:chExt cx="3199543" cy="595550"/>
            </a:xfrm>
          </p:grpSpPr>
          <p:sp>
            <p:nvSpPr>
              <p:cNvPr id="35" name="Freeform 35"/>
              <p:cNvSpPr/>
              <p:nvPr/>
            </p:nvSpPr>
            <p:spPr>
              <a:xfrm>
                <a:off x="0" y="0"/>
                <a:ext cx="3199543" cy="595550"/>
              </a:xfrm>
              <a:custGeom>
                <a:avLst/>
                <a:gdLst/>
                <a:ahLst/>
                <a:cxnLst/>
                <a:rect l="l" t="t" r="r" b="b"/>
                <a:pathLst>
                  <a:path w="3199543" h="595550">
                    <a:moveTo>
                      <a:pt x="34413" y="0"/>
                    </a:moveTo>
                    <a:lnTo>
                      <a:pt x="3165129" y="0"/>
                    </a:lnTo>
                    <a:cubicBezTo>
                      <a:pt x="3174256" y="0"/>
                      <a:pt x="3183009" y="3626"/>
                      <a:pt x="3189463" y="10079"/>
                    </a:cubicBezTo>
                    <a:cubicBezTo>
                      <a:pt x="3195917" y="16533"/>
                      <a:pt x="3199543" y="25286"/>
                      <a:pt x="3199543" y="34413"/>
                    </a:cubicBezTo>
                    <a:lnTo>
                      <a:pt x="3199543" y="561136"/>
                    </a:lnTo>
                    <a:cubicBezTo>
                      <a:pt x="3199543" y="570263"/>
                      <a:pt x="3195917" y="579016"/>
                      <a:pt x="3189463" y="585470"/>
                    </a:cubicBezTo>
                    <a:cubicBezTo>
                      <a:pt x="3183009" y="591924"/>
                      <a:pt x="3174256" y="595550"/>
                      <a:pt x="3165129" y="595550"/>
                    </a:cubicBezTo>
                    <a:lnTo>
                      <a:pt x="34413" y="595550"/>
                    </a:lnTo>
                    <a:cubicBezTo>
                      <a:pt x="25286" y="595550"/>
                      <a:pt x="16533" y="591924"/>
                      <a:pt x="10079" y="585470"/>
                    </a:cubicBezTo>
                    <a:cubicBezTo>
                      <a:pt x="3626" y="579016"/>
                      <a:pt x="0" y="570263"/>
                      <a:pt x="0" y="561136"/>
                    </a:cubicBezTo>
                    <a:lnTo>
                      <a:pt x="0" y="34413"/>
                    </a:lnTo>
                    <a:cubicBezTo>
                      <a:pt x="0" y="25286"/>
                      <a:pt x="3626" y="16533"/>
                      <a:pt x="10079" y="10079"/>
                    </a:cubicBezTo>
                    <a:cubicBezTo>
                      <a:pt x="16533" y="3626"/>
                      <a:pt x="25286" y="0"/>
                      <a:pt x="34413" y="0"/>
                    </a:cubicBezTo>
                    <a:close/>
                  </a:path>
                </a:pathLst>
              </a:custGeom>
              <a:solidFill>
                <a:srgbClr val="FFFFFF"/>
              </a:solidFill>
            </p:spPr>
            <p:txBody>
              <a:bodyPr/>
              <a:lstStyle/>
              <a:p>
                <a:endParaRPr lang="en-CA"/>
              </a:p>
            </p:txBody>
          </p:sp>
          <p:sp>
            <p:nvSpPr>
              <p:cNvPr id="36" name="TextBox 36"/>
              <p:cNvSpPr txBox="1"/>
              <p:nvPr/>
            </p:nvSpPr>
            <p:spPr>
              <a:xfrm>
                <a:off x="0" y="-57150"/>
                <a:ext cx="3199543" cy="652700"/>
              </a:xfrm>
              <a:prstGeom prst="rect">
                <a:avLst/>
              </a:prstGeom>
            </p:spPr>
            <p:txBody>
              <a:bodyPr lIns="50800" tIns="50800" rIns="50800" bIns="50800" rtlCol="0" anchor="ctr"/>
              <a:lstStyle/>
              <a:p>
                <a:pPr algn="ctr">
                  <a:lnSpc>
                    <a:spcPts val="3500"/>
                  </a:lnSpc>
                </a:pPr>
                <a:endParaRPr/>
              </a:p>
            </p:txBody>
          </p:sp>
        </p:grpSp>
      </p:grpSp>
      <p:sp>
        <p:nvSpPr>
          <p:cNvPr id="37" name="TextBox 37"/>
          <p:cNvSpPr txBox="1"/>
          <p:nvPr/>
        </p:nvSpPr>
        <p:spPr>
          <a:xfrm>
            <a:off x="5441128" y="7743732"/>
            <a:ext cx="10901066" cy="8959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opportunity to make a contribution to society and receive recognition for his effor</a:t>
            </a:r>
            <a:r>
              <a:rPr lang="en-US" sz="2599" b="1" u="none" strike="noStrike">
                <a:solidFill>
                  <a:srgbClr val="000000"/>
                </a:solidFill>
                <a:latin typeface="Montserrat Bold"/>
                <a:ea typeface="Montserrat Bold"/>
                <a:cs typeface="Montserrat Bold"/>
                <a:sym typeface="Montserrat Bold"/>
              </a:rPr>
              <a:t>ts</a:t>
            </a:r>
          </a:p>
        </p:txBody>
      </p:sp>
      <p:sp>
        <p:nvSpPr>
          <p:cNvPr id="38" name="TextBox 38"/>
          <p:cNvSpPr txBox="1"/>
          <p:nvPr/>
        </p:nvSpPr>
        <p:spPr>
          <a:xfrm>
            <a:off x="5500136" y="8792118"/>
            <a:ext cx="11167624" cy="967105"/>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Montserrat"/>
                <a:ea typeface="Montserrat"/>
                <a:cs typeface="Montserrat"/>
                <a:sym typeface="Montserrat"/>
              </a:rPr>
              <a:t> Entrepreneurs who innovate gain both social recognition and potential wealth.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679294" y="3189613"/>
            <a:ext cx="4228519" cy="1745733"/>
          </a:xfrm>
          <a:custGeom>
            <a:avLst/>
            <a:gdLst/>
            <a:ahLst/>
            <a:cxnLst/>
            <a:rect l="l" t="t" r="r" b="b"/>
            <a:pathLst>
              <a:path w="4228519" h="1745733">
                <a:moveTo>
                  <a:pt x="0" y="0"/>
                </a:moveTo>
                <a:lnTo>
                  <a:pt x="4228518" y="0"/>
                </a:lnTo>
                <a:lnTo>
                  <a:pt x="4228518" y="1745734"/>
                </a:lnTo>
                <a:lnTo>
                  <a:pt x="0" y="17457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rot="-1112466">
            <a:off x="15220969" y="-129023"/>
            <a:ext cx="2873101" cy="4114800"/>
          </a:xfrm>
          <a:custGeom>
            <a:avLst/>
            <a:gdLst/>
            <a:ahLst/>
            <a:cxnLst/>
            <a:rect l="l" t="t" r="r" b="b"/>
            <a:pathLst>
              <a:path w="2873101" h="4114800">
                <a:moveTo>
                  <a:pt x="0" y="0"/>
                </a:moveTo>
                <a:lnTo>
                  <a:pt x="2873101" y="0"/>
                </a:lnTo>
                <a:lnTo>
                  <a:pt x="28731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4" name="Freeform 4"/>
          <p:cNvSpPr/>
          <p:nvPr/>
        </p:nvSpPr>
        <p:spPr>
          <a:xfrm rot="-803655">
            <a:off x="107922" y="6733557"/>
            <a:ext cx="2382893" cy="2329658"/>
          </a:xfrm>
          <a:custGeom>
            <a:avLst/>
            <a:gdLst/>
            <a:ahLst/>
            <a:cxnLst/>
            <a:rect l="l" t="t" r="r" b="b"/>
            <a:pathLst>
              <a:path w="2382893" h="2329658">
                <a:moveTo>
                  <a:pt x="0" y="0"/>
                </a:moveTo>
                <a:lnTo>
                  <a:pt x="2382893" y="0"/>
                </a:lnTo>
                <a:lnTo>
                  <a:pt x="2382893" y="2329658"/>
                </a:lnTo>
                <a:lnTo>
                  <a:pt x="0" y="23296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5" name="TextBox 5"/>
          <p:cNvSpPr txBox="1"/>
          <p:nvPr/>
        </p:nvSpPr>
        <p:spPr>
          <a:xfrm>
            <a:off x="2965003" y="269122"/>
            <a:ext cx="11402476" cy="1659255"/>
          </a:xfrm>
          <a:prstGeom prst="rect">
            <a:avLst/>
          </a:prstGeom>
        </p:spPr>
        <p:txBody>
          <a:bodyPr lIns="0" tIns="0" rIns="0" bIns="0" rtlCol="0" anchor="t">
            <a:spAutoFit/>
          </a:bodyPr>
          <a:lstStyle/>
          <a:p>
            <a:pPr algn="ctr">
              <a:lnSpc>
                <a:spcPts val="6719"/>
              </a:lnSpc>
              <a:spcBef>
                <a:spcPct val="0"/>
              </a:spcBef>
            </a:pPr>
            <a:r>
              <a:rPr lang="en-US" sz="4800" b="1">
                <a:solidFill>
                  <a:srgbClr val="000000"/>
                </a:solidFill>
                <a:latin typeface="Montserrat Bold"/>
                <a:ea typeface="Montserrat Bold"/>
                <a:cs typeface="Montserrat Bold"/>
                <a:sym typeface="Montserrat Bold"/>
              </a:rPr>
              <a:t>DISADVANTAGES OF OPERATING A SMALL BUSINESS</a:t>
            </a:r>
          </a:p>
        </p:txBody>
      </p:sp>
      <p:sp>
        <p:nvSpPr>
          <p:cNvPr id="6" name="TextBox 6"/>
          <p:cNvSpPr txBox="1"/>
          <p:nvPr/>
        </p:nvSpPr>
        <p:spPr>
          <a:xfrm>
            <a:off x="2181758" y="1928880"/>
            <a:ext cx="13924484" cy="1543050"/>
          </a:xfrm>
          <a:prstGeom prst="rect">
            <a:avLst/>
          </a:prstGeom>
        </p:spPr>
        <p:txBody>
          <a:bodyPr lIns="0" tIns="0" rIns="0" bIns="0" rtlCol="0" anchor="t">
            <a:spAutoFit/>
          </a:bodyPr>
          <a:lstStyle/>
          <a:p>
            <a:pPr algn="ctr">
              <a:lnSpc>
                <a:spcPts val="4199"/>
              </a:lnSpc>
              <a:spcBef>
                <a:spcPct val="0"/>
              </a:spcBef>
            </a:pPr>
            <a:r>
              <a:rPr lang="en-US" sz="2999">
                <a:solidFill>
                  <a:srgbClr val="000000"/>
                </a:solidFill>
                <a:latin typeface="Montserrat"/>
                <a:ea typeface="Montserrat"/>
                <a:cs typeface="Montserrat"/>
                <a:sym typeface="Montserrat"/>
              </a:rPr>
              <a:t>Although certain advantages accrue to the small business operator, there are certain disadvantages that must be considered. These are the following:</a:t>
            </a:r>
          </a:p>
        </p:txBody>
      </p:sp>
      <p:sp>
        <p:nvSpPr>
          <p:cNvPr id="7" name="TextBox 7"/>
          <p:cNvSpPr txBox="1"/>
          <p:nvPr/>
        </p:nvSpPr>
        <p:spPr>
          <a:xfrm>
            <a:off x="1105113" y="3540122"/>
            <a:ext cx="2985840" cy="931545"/>
          </a:xfrm>
          <a:prstGeom prst="rect">
            <a:avLst/>
          </a:prstGeom>
        </p:spPr>
        <p:txBody>
          <a:bodyPr lIns="0" tIns="0" rIns="0" bIns="0" rtlCol="0" anchor="t">
            <a:spAutoFit/>
          </a:bodyPr>
          <a:lstStyle/>
          <a:p>
            <a:pPr algn="ctr">
              <a:lnSpc>
                <a:spcPts val="3779"/>
              </a:lnSpc>
              <a:spcBef>
                <a:spcPct val="0"/>
              </a:spcBef>
            </a:pPr>
            <a:r>
              <a:rPr lang="en-US" sz="2699" b="1">
                <a:solidFill>
                  <a:srgbClr val="000000"/>
                </a:solidFill>
                <a:latin typeface="Montserrat Bold"/>
                <a:ea typeface="Montserrat Bold"/>
                <a:cs typeface="Montserrat Bold"/>
                <a:sym typeface="Montserrat Bold"/>
              </a:rPr>
              <a:t>1. uncertainty of income</a:t>
            </a:r>
          </a:p>
        </p:txBody>
      </p:sp>
      <p:sp>
        <p:nvSpPr>
          <p:cNvPr id="8" name="Freeform 8"/>
          <p:cNvSpPr/>
          <p:nvPr/>
        </p:nvSpPr>
        <p:spPr>
          <a:xfrm>
            <a:off x="6302011" y="3732783"/>
            <a:ext cx="4228519" cy="1745733"/>
          </a:xfrm>
          <a:custGeom>
            <a:avLst/>
            <a:gdLst/>
            <a:ahLst/>
            <a:cxnLst/>
            <a:rect l="l" t="t" r="r" b="b"/>
            <a:pathLst>
              <a:path w="4228519" h="1745733">
                <a:moveTo>
                  <a:pt x="0" y="0"/>
                </a:moveTo>
                <a:lnTo>
                  <a:pt x="4228519" y="0"/>
                </a:lnTo>
                <a:lnTo>
                  <a:pt x="4228519" y="1745733"/>
                </a:lnTo>
                <a:lnTo>
                  <a:pt x="0" y="1745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9" name="TextBox 9"/>
          <p:cNvSpPr txBox="1"/>
          <p:nvPr/>
        </p:nvSpPr>
        <p:spPr>
          <a:xfrm>
            <a:off x="6424982" y="3905244"/>
            <a:ext cx="3935571" cy="1353185"/>
          </a:xfrm>
          <a:prstGeom prst="rect">
            <a:avLst/>
          </a:prstGeom>
        </p:spPr>
        <p:txBody>
          <a:bodyPr lIns="0" tIns="0" rIns="0" bIns="0" rtlCol="0" anchor="t">
            <a:spAutoFit/>
          </a:bodyPr>
          <a:lstStyle/>
          <a:p>
            <a:pPr marL="0" lvl="0" indent="0" algn="ctr">
              <a:lnSpc>
                <a:spcPts val="3639"/>
              </a:lnSpc>
              <a:spcBef>
                <a:spcPct val="0"/>
              </a:spcBef>
            </a:pPr>
            <a:r>
              <a:rPr lang="en-US" sz="2599" b="1">
                <a:solidFill>
                  <a:srgbClr val="000000"/>
                </a:solidFill>
                <a:latin typeface="Montserrat Bold"/>
                <a:ea typeface="Montserrat Bold"/>
                <a:cs typeface="Montserrat Bold"/>
                <a:sym typeface="Montserrat Bold"/>
              </a:rPr>
              <a:t>2. risk of losing your entire capital investmen</a:t>
            </a:r>
          </a:p>
        </p:txBody>
      </p:sp>
      <p:sp>
        <p:nvSpPr>
          <p:cNvPr id="10" name="Freeform 10"/>
          <p:cNvSpPr/>
          <p:nvPr/>
        </p:nvSpPr>
        <p:spPr>
          <a:xfrm>
            <a:off x="11877723" y="3300606"/>
            <a:ext cx="4228519" cy="1745733"/>
          </a:xfrm>
          <a:custGeom>
            <a:avLst/>
            <a:gdLst/>
            <a:ahLst/>
            <a:cxnLst/>
            <a:rect l="l" t="t" r="r" b="b"/>
            <a:pathLst>
              <a:path w="4228519" h="1745733">
                <a:moveTo>
                  <a:pt x="0" y="0"/>
                </a:moveTo>
                <a:lnTo>
                  <a:pt x="4228519" y="0"/>
                </a:lnTo>
                <a:lnTo>
                  <a:pt x="4228519" y="1745734"/>
                </a:lnTo>
                <a:lnTo>
                  <a:pt x="0" y="17457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1" name="TextBox 11"/>
          <p:cNvSpPr txBox="1"/>
          <p:nvPr/>
        </p:nvSpPr>
        <p:spPr>
          <a:xfrm>
            <a:off x="12186292" y="3509898"/>
            <a:ext cx="3611381" cy="1289050"/>
          </a:xfrm>
          <a:prstGeom prst="rect">
            <a:avLst/>
          </a:prstGeom>
        </p:spPr>
        <p:txBody>
          <a:bodyPr lIns="0" tIns="0" rIns="0" bIns="0" rtlCol="0" anchor="t">
            <a:spAutoFit/>
          </a:bodyPr>
          <a:lstStyle/>
          <a:p>
            <a:pPr marL="0" lvl="0" indent="0" algn="ctr">
              <a:lnSpc>
                <a:spcPts val="3499"/>
              </a:lnSpc>
              <a:spcBef>
                <a:spcPct val="0"/>
              </a:spcBef>
            </a:pPr>
            <a:r>
              <a:rPr lang="en-US" sz="2499" b="1">
                <a:solidFill>
                  <a:srgbClr val="000000"/>
                </a:solidFill>
                <a:latin typeface="Montserrat Bold"/>
                <a:ea typeface="Montserrat Bold"/>
                <a:cs typeface="Montserrat Bold"/>
                <a:sym typeface="Montserrat Bold"/>
              </a:rPr>
              <a:t>3. lower quality of life until the business gets established</a:t>
            </a:r>
          </a:p>
        </p:txBody>
      </p:sp>
      <p:sp>
        <p:nvSpPr>
          <p:cNvPr id="12" name="Freeform 12"/>
          <p:cNvSpPr/>
          <p:nvPr/>
        </p:nvSpPr>
        <p:spPr>
          <a:xfrm>
            <a:off x="682842" y="5478516"/>
            <a:ext cx="4228519" cy="1745733"/>
          </a:xfrm>
          <a:custGeom>
            <a:avLst/>
            <a:gdLst/>
            <a:ahLst/>
            <a:cxnLst/>
            <a:rect l="l" t="t" r="r" b="b"/>
            <a:pathLst>
              <a:path w="4228519" h="1745733">
                <a:moveTo>
                  <a:pt x="0" y="0"/>
                </a:moveTo>
                <a:lnTo>
                  <a:pt x="4228519" y="0"/>
                </a:lnTo>
                <a:lnTo>
                  <a:pt x="4228519" y="1745733"/>
                </a:lnTo>
                <a:lnTo>
                  <a:pt x="0" y="1745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3" name="Freeform 13"/>
          <p:cNvSpPr/>
          <p:nvPr/>
        </p:nvSpPr>
        <p:spPr>
          <a:xfrm>
            <a:off x="6302011" y="6022776"/>
            <a:ext cx="4228519" cy="1745733"/>
          </a:xfrm>
          <a:custGeom>
            <a:avLst/>
            <a:gdLst/>
            <a:ahLst/>
            <a:cxnLst/>
            <a:rect l="l" t="t" r="r" b="b"/>
            <a:pathLst>
              <a:path w="4228519" h="1745733">
                <a:moveTo>
                  <a:pt x="0" y="0"/>
                </a:moveTo>
                <a:lnTo>
                  <a:pt x="4228519" y="0"/>
                </a:lnTo>
                <a:lnTo>
                  <a:pt x="4228519" y="1745733"/>
                </a:lnTo>
                <a:lnTo>
                  <a:pt x="0" y="1745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4" name="Freeform 14"/>
          <p:cNvSpPr/>
          <p:nvPr/>
        </p:nvSpPr>
        <p:spPr>
          <a:xfrm>
            <a:off x="11921180" y="5647184"/>
            <a:ext cx="4228519" cy="1745733"/>
          </a:xfrm>
          <a:custGeom>
            <a:avLst/>
            <a:gdLst/>
            <a:ahLst/>
            <a:cxnLst/>
            <a:rect l="l" t="t" r="r" b="b"/>
            <a:pathLst>
              <a:path w="4228519" h="1745733">
                <a:moveTo>
                  <a:pt x="0" y="0"/>
                </a:moveTo>
                <a:lnTo>
                  <a:pt x="4228518" y="0"/>
                </a:lnTo>
                <a:lnTo>
                  <a:pt x="4228518" y="1745734"/>
                </a:lnTo>
                <a:lnTo>
                  <a:pt x="0" y="17457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5" name="Freeform 15"/>
          <p:cNvSpPr/>
          <p:nvPr/>
        </p:nvSpPr>
        <p:spPr>
          <a:xfrm>
            <a:off x="6302011" y="8311434"/>
            <a:ext cx="4228519" cy="1745733"/>
          </a:xfrm>
          <a:custGeom>
            <a:avLst/>
            <a:gdLst/>
            <a:ahLst/>
            <a:cxnLst/>
            <a:rect l="l" t="t" r="r" b="b"/>
            <a:pathLst>
              <a:path w="4228519" h="1745733">
                <a:moveTo>
                  <a:pt x="0" y="0"/>
                </a:moveTo>
                <a:lnTo>
                  <a:pt x="4228519" y="0"/>
                </a:lnTo>
                <a:lnTo>
                  <a:pt x="4228519" y="1745734"/>
                </a:lnTo>
                <a:lnTo>
                  <a:pt x="0" y="17457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6" name="TextBox 16"/>
          <p:cNvSpPr txBox="1"/>
          <p:nvPr/>
        </p:nvSpPr>
        <p:spPr>
          <a:xfrm>
            <a:off x="679294" y="5826238"/>
            <a:ext cx="4097892" cy="1002665"/>
          </a:xfrm>
          <a:prstGeom prst="rect">
            <a:avLst/>
          </a:prstGeom>
        </p:spPr>
        <p:txBody>
          <a:bodyPr lIns="0" tIns="0" rIns="0" bIns="0" rtlCol="0" anchor="t">
            <a:spAutoFit/>
          </a:bodyPr>
          <a:lstStyle/>
          <a:p>
            <a:pPr marL="0" lvl="0" indent="0" algn="ctr">
              <a:lnSpc>
                <a:spcPts val="4059"/>
              </a:lnSpc>
              <a:spcBef>
                <a:spcPct val="0"/>
              </a:spcBef>
            </a:pPr>
            <a:r>
              <a:rPr lang="en-US" sz="2899" b="1">
                <a:solidFill>
                  <a:srgbClr val="000000"/>
                </a:solidFill>
                <a:latin typeface="Montserrat Bold"/>
                <a:ea typeface="Montserrat Bold"/>
                <a:cs typeface="Montserrat Bold"/>
                <a:sym typeface="Montserrat Bold"/>
              </a:rPr>
              <a:t>4. complete responsibility</a:t>
            </a:r>
          </a:p>
        </p:txBody>
      </p:sp>
      <p:sp>
        <p:nvSpPr>
          <p:cNvPr id="17" name="TextBox 17"/>
          <p:cNvSpPr txBox="1"/>
          <p:nvPr/>
        </p:nvSpPr>
        <p:spPr>
          <a:xfrm>
            <a:off x="6181501" y="6451142"/>
            <a:ext cx="4422534" cy="850900"/>
          </a:xfrm>
          <a:prstGeom prst="rect">
            <a:avLst/>
          </a:prstGeom>
        </p:spPr>
        <p:txBody>
          <a:bodyPr lIns="0" tIns="0" rIns="0" bIns="0" rtlCol="0" anchor="t">
            <a:spAutoFit/>
          </a:bodyPr>
          <a:lstStyle/>
          <a:p>
            <a:pPr marL="0" lvl="0" indent="0" algn="ctr">
              <a:lnSpc>
                <a:spcPts val="3499"/>
              </a:lnSpc>
              <a:spcBef>
                <a:spcPct val="0"/>
              </a:spcBef>
            </a:pPr>
            <a:r>
              <a:rPr lang="en-US" sz="2499" b="1">
                <a:solidFill>
                  <a:srgbClr val="000000"/>
                </a:solidFill>
                <a:latin typeface="Montserrat Bold"/>
                <a:ea typeface="Montserrat Bold"/>
                <a:cs typeface="Montserrat Bold"/>
                <a:sym typeface="Montserrat Bold"/>
              </a:rPr>
              <a:t>5. having to serve undesirable customers</a:t>
            </a:r>
          </a:p>
        </p:txBody>
      </p:sp>
      <p:sp>
        <p:nvSpPr>
          <p:cNvPr id="18" name="TextBox 18"/>
          <p:cNvSpPr txBox="1"/>
          <p:nvPr/>
        </p:nvSpPr>
        <p:spPr>
          <a:xfrm>
            <a:off x="12154710" y="6044742"/>
            <a:ext cx="3674544" cy="850900"/>
          </a:xfrm>
          <a:prstGeom prst="rect">
            <a:avLst/>
          </a:prstGeom>
        </p:spPr>
        <p:txBody>
          <a:bodyPr lIns="0" tIns="0" rIns="0" bIns="0" rtlCol="0" anchor="t">
            <a:spAutoFit/>
          </a:bodyPr>
          <a:lstStyle/>
          <a:p>
            <a:pPr marL="0" lvl="0" indent="0" algn="ctr">
              <a:lnSpc>
                <a:spcPts val="3499"/>
              </a:lnSpc>
              <a:spcBef>
                <a:spcPct val="0"/>
              </a:spcBef>
            </a:pPr>
            <a:r>
              <a:rPr lang="en-US" sz="2499" b="1">
                <a:solidFill>
                  <a:srgbClr val="000000"/>
                </a:solidFill>
                <a:latin typeface="Montserrat Bold"/>
                <a:ea typeface="Montserrat Bold"/>
                <a:cs typeface="Montserrat Bold"/>
                <a:sym typeface="Montserrat Bold"/>
              </a:rPr>
              <a:t>6. paperwork and other chores</a:t>
            </a:r>
          </a:p>
        </p:txBody>
      </p:sp>
      <p:sp>
        <p:nvSpPr>
          <p:cNvPr id="19" name="TextBox 19"/>
          <p:cNvSpPr txBox="1"/>
          <p:nvPr/>
        </p:nvSpPr>
        <p:spPr>
          <a:xfrm>
            <a:off x="6181501" y="8502015"/>
            <a:ext cx="4260213" cy="1407795"/>
          </a:xfrm>
          <a:prstGeom prst="rect">
            <a:avLst/>
          </a:prstGeom>
        </p:spPr>
        <p:txBody>
          <a:bodyPr lIns="0" tIns="0" rIns="0" bIns="0" rtlCol="0" anchor="t">
            <a:spAutoFit/>
          </a:bodyPr>
          <a:lstStyle/>
          <a:p>
            <a:pPr marL="0" lvl="0" indent="0" algn="ctr">
              <a:lnSpc>
                <a:spcPts val="3779"/>
              </a:lnSpc>
              <a:spcBef>
                <a:spcPct val="0"/>
              </a:spcBef>
            </a:pPr>
            <a:r>
              <a:rPr lang="en-US" sz="2699" b="1">
                <a:solidFill>
                  <a:srgbClr val="000000"/>
                </a:solidFill>
                <a:latin typeface="Montserrat Bold"/>
                <a:ea typeface="Montserrat Bold"/>
                <a:cs typeface="Montserrat Bold"/>
                <a:sym typeface="Montserrat Bold"/>
              </a:rPr>
              <a:t>7. long hours and demanding work condition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1195501" y="415375"/>
            <a:ext cx="8170939" cy="1972356"/>
          </a:xfrm>
          <a:custGeom>
            <a:avLst/>
            <a:gdLst/>
            <a:ahLst/>
            <a:cxnLst/>
            <a:rect l="l" t="t" r="r" b="b"/>
            <a:pathLst>
              <a:path w="8170939" h="1972356">
                <a:moveTo>
                  <a:pt x="0" y="0"/>
                </a:moveTo>
                <a:lnTo>
                  <a:pt x="8170938" y="0"/>
                </a:lnTo>
                <a:lnTo>
                  <a:pt x="8170938" y="1972356"/>
                </a:lnTo>
                <a:lnTo>
                  <a:pt x="0" y="1972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8934249" y="0"/>
            <a:ext cx="2852507" cy="2185396"/>
          </a:xfrm>
          <a:custGeom>
            <a:avLst/>
            <a:gdLst/>
            <a:ahLst/>
            <a:cxnLst/>
            <a:rect l="l" t="t" r="r" b="b"/>
            <a:pathLst>
              <a:path w="2852507" h="2185396">
                <a:moveTo>
                  <a:pt x="0" y="0"/>
                </a:moveTo>
                <a:lnTo>
                  <a:pt x="2852507" y="0"/>
                </a:lnTo>
                <a:lnTo>
                  <a:pt x="2852507" y="2185396"/>
                </a:lnTo>
                <a:lnTo>
                  <a:pt x="0" y="21853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4" name="Freeform 4"/>
          <p:cNvSpPr/>
          <p:nvPr/>
        </p:nvSpPr>
        <p:spPr>
          <a:xfrm>
            <a:off x="614775" y="3862655"/>
            <a:ext cx="827850" cy="2976297"/>
          </a:xfrm>
          <a:custGeom>
            <a:avLst/>
            <a:gdLst/>
            <a:ahLst/>
            <a:cxnLst/>
            <a:rect l="l" t="t" r="r" b="b"/>
            <a:pathLst>
              <a:path w="827850" h="2976297">
                <a:moveTo>
                  <a:pt x="0" y="0"/>
                </a:moveTo>
                <a:lnTo>
                  <a:pt x="827850" y="0"/>
                </a:lnTo>
                <a:lnTo>
                  <a:pt x="827850" y="2976296"/>
                </a:lnTo>
                <a:lnTo>
                  <a:pt x="0" y="29762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5" name="TextBox 5"/>
          <p:cNvSpPr txBox="1"/>
          <p:nvPr/>
        </p:nvSpPr>
        <p:spPr>
          <a:xfrm>
            <a:off x="1627691" y="726865"/>
            <a:ext cx="7306558" cy="1180466"/>
          </a:xfrm>
          <a:prstGeom prst="rect">
            <a:avLst/>
          </a:prstGeom>
        </p:spPr>
        <p:txBody>
          <a:bodyPr lIns="0" tIns="0" rIns="0" bIns="0" rtlCol="0" anchor="t">
            <a:spAutoFit/>
          </a:bodyPr>
          <a:lstStyle/>
          <a:p>
            <a:pPr algn="ctr">
              <a:lnSpc>
                <a:spcPts val="4759"/>
              </a:lnSpc>
              <a:spcBef>
                <a:spcPct val="0"/>
              </a:spcBef>
            </a:pPr>
            <a:r>
              <a:rPr lang="en-US" sz="3399" b="1">
                <a:solidFill>
                  <a:srgbClr val="000000"/>
                </a:solidFill>
                <a:latin typeface="Open Sans Bold"/>
                <a:ea typeface="Open Sans Bold"/>
                <a:cs typeface="Open Sans Bold"/>
                <a:sym typeface="Open Sans Bold"/>
              </a:rPr>
              <a:t>DISADVANTAGES OF OPERATING A SMALL BUSINESS</a:t>
            </a:r>
          </a:p>
        </p:txBody>
      </p:sp>
      <p:sp>
        <p:nvSpPr>
          <p:cNvPr id="6" name="TextBox 6"/>
          <p:cNvSpPr txBox="1"/>
          <p:nvPr/>
        </p:nvSpPr>
        <p:spPr>
          <a:xfrm>
            <a:off x="1739827" y="2519909"/>
            <a:ext cx="16272118" cy="7171142"/>
          </a:xfrm>
          <a:prstGeom prst="rect">
            <a:avLst/>
          </a:prstGeom>
        </p:spPr>
        <p:txBody>
          <a:bodyPr lIns="0" tIns="0" rIns="0" bIns="0" rtlCol="0" anchor="t">
            <a:spAutoFit/>
          </a:bodyPr>
          <a:lstStyle/>
          <a:p>
            <a:pPr algn="l">
              <a:lnSpc>
                <a:spcPts val="4790"/>
              </a:lnSpc>
              <a:spcBef>
                <a:spcPct val="0"/>
              </a:spcBef>
            </a:pPr>
            <a:r>
              <a:rPr lang="en-US" sz="3421">
                <a:solidFill>
                  <a:srgbClr val="000000"/>
                </a:solidFill>
                <a:latin typeface="Open Sans"/>
                <a:ea typeface="Open Sans"/>
                <a:cs typeface="Open Sans"/>
                <a:sym typeface="Open Sans"/>
              </a:rPr>
              <a:t>Operating a small business does not guarantee income, unlike employment which provides fixed monthly salaries. Independence in decision-making also carries risks, as errors in judgment can lead to business failure or even loss of investment. At the start, income and profits are uncertain, and the owner may endure a lower quality of life while waiting for returns. The small business operator takes full responsibility for all outcomes, including legal liabilities and customer satisfaction, even when faced with difficult clients. Unlike large companies that can delegate tasks, small business owners often handle paperwork and other demanding duties themselves. Finally, maintaining long working hours is common, since limited production and sales force the operator to personally manage many business functions.</a:t>
            </a:r>
          </a:p>
          <a:p>
            <a:pPr algn="l">
              <a:lnSpc>
                <a:spcPts val="4790"/>
              </a:lnSpc>
              <a:spcBef>
                <a:spcPct val="0"/>
              </a:spcBef>
            </a:pPr>
            <a:endParaRPr lang="en-US" sz="3421">
              <a:solidFill>
                <a:srgbClr val="000000"/>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1195501" y="415375"/>
            <a:ext cx="8170939" cy="1972356"/>
          </a:xfrm>
          <a:custGeom>
            <a:avLst/>
            <a:gdLst/>
            <a:ahLst/>
            <a:cxnLst/>
            <a:rect l="l" t="t" r="r" b="b"/>
            <a:pathLst>
              <a:path w="8170939" h="1972356">
                <a:moveTo>
                  <a:pt x="0" y="0"/>
                </a:moveTo>
                <a:lnTo>
                  <a:pt x="8170938" y="0"/>
                </a:lnTo>
                <a:lnTo>
                  <a:pt x="8170938" y="1972356"/>
                </a:lnTo>
                <a:lnTo>
                  <a:pt x="0" y="1972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8934249" y="0"/>
            <a:ext cx="2852507" cy="2185396"/>
          </a:xfrm>
          <a:custGeom>
            <a:avLst/>
            <a:gdLst/>
            <a:ahLst/>
            <a:cxnLst/>
            <a:rect l="l" t="t" r="r" b="b"/>
            <a:pathLst>
              <a:path w="2852507" h="2185396">
                <a:moveTo>
                  <a:pt x="0" y="0"/>
                </a:moveTo>
                <a:lnTo>
                  <a:pt x="2852507" y="0"/>
                </a:lnTo>
                <a:lnTo>
                  <a:pt x="2852507" y="2185396"/>
                </a:lnTo>
                <a:lnTo>
                  <a:pt x="0" y="21853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4" name="Freeform 4"/>
          <p:cNvSpPr/>
          <p:nvPr/>
        </p:nvSpPr>
        <p:spPr>
          <a:xfrm>
            <a:off x="614775" y="3862655"/>
            <a:ext cx="827850" cy="2976297"/>
          </a:xfrm>
          <a:custGeom>
            <a:avLst/>
            <a:gdLst/>
            <a:ahLst/>
            <a:cxnLst/>
            <a:rect l="l" t="t" r="r" b="b"/>
            <a:pathLst>
              <a:path w="827850" h="2976297">
                <a:moveTo>
                  <a:pt x="0" y="0"/>
                </a:moveTo>
                <a:lnTo>
                  <a:pt x="827850" y="0"/>
                </a:lnTo>
                <a:lnTo>
                  <a:pt x="827850" y="2976296"/>
                </a:lnTo>
                <a:lnTo>
                  <a:pt x="0" y="29762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5" name="Freeform 5"/>
          <p:cNvSpPr/>
          <p:nvPr/>
        </p:nvSpPr>
        <p:spPr>
          <a:xfrm>
            <a:off x="3694739" y="2529762"/>
            <a:ext cx="12514956" cy="7757238"/>
          </a:xfrm>
          <a:custGeom>
            <a:avLst/>
            <a:gdLst/>
            <a:ahLst/>
            <a:cxnLst/>
            <a:rect l="l" t="t" r="r" b="b"/>
            <a:pathLst>
              <a:path w="12514956" h="7757238">
                <a:moveTo>
                  <a:pt x="0" y="0"/>
                </a:moveTo>
                <a:lnTo>
                  <a:pt x="12514956" y="0"/>
                </a:lnTo>
                <a:lnTo>
                  <a:pt x="12514956" y="7757238"/>
                </a:lnTo>
                <a:lnTo>
                  <a:pt x="0" y="7757238"/>
                </a:lnTo>
                <a:lnTo>
                  <a:pt x="0" y="0"/>
                </a:lnTo>
                <a:close/>
              </a:path>
            </a:pathLst>
          </a:custGeom>
          <a:blipFill>
            <a:blip r:embed="rId8"/>
            <a:stretch>
              <a:fillRect l="-5662" t="-15793" r="-3706"/>
            </a:stretch>
          </a:blipFill>
        </p:spPr>
        <p:txBody>
          <a:bodyPr/>
          <a:lstStyle/>
          <a:p>
            <a:endParaRPr lang="en-CA"/>
          </a:p>
        </p:txBody>
      </p:sp>
      <p:sp>
        <p:nvSpPr>
          <p:cNvPr id="6" name="TextBox 6"/>
          <p:cNvSpPr txBox="1"/>
          <p:nvPr/>
        </p:nvSpPr>
        <p:spPr>
          <a:xfrm>
            <a:off x="1627691" y="726865"/>
            <a:ext cx="7306558" cy="1180466"/>
          </a:xfrm>
          <a:prstGeom prst="rect">
            <a:avLst/>
          </a:prstGeom>
        </p:spPr>
        <p:txBody>
          <a:bodyPr lIns="0" tIns="0" rIns="0" bIns="0" rtlCol="0" anchor="t">
            <a:spAutoFit/>
          </a:bodyPr>
          <a:lstStyle/>
          <a:p>
            <a:pPr algn="ctr">
              <a:lnSpc>
                <a:spcPts val="4759"/>
              </a:lnSpc>
              <a:spcBef>
                <a:spcPct val="0"/>
              </a:spcBef>
            </a:pPr>
            <a:r>
              <a:rPr lang="en-US" sz="3399" b="1">
                <a:solidFill>
                  <a:srgbClr val="000000"/>
                </a:solidFill>
                <a:latin typeface="Open Sans Bold"/>
                <a:ea typeface="Open Sans Bold"/>
                <a:cs typeface="Open Sans Bold"/>
                <a:sym typeface="Open Sans Bold"/>
              </a:rPr>
              <a:t>DISADVANTAGES OF OPERATING A SMALL BUSINESS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1654019" y="381183"/>
            <a:ext cx="10913928" cy="2634477"/>
          </a:xfrm>
          <a:custGeom>
            <a:avLst/>
            <a:gdLst/>
            <a:ahLst/>
            <a:cxnLst/>
            <a:rect l="l" t="t" r="r" b="b"/>
            <a:pathLst>
              <a:path w="10913928" h="2634477">
                <a:moveTo>
                  <a:pt x="0" y="0"/>
                </a:moveTo>
                <a:lnTo>
                  <a:pt x="10913928" y="0"/>
                </a:lnTo>
                <a:lnTo>
                  <a:pt x="10913928" y="2634477"/>
                </a:lnTo>
                <a:lnTo>
                  <a:pt x="0" y="2634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TextBox 3"/>
          <p:cNvSpPr txBox="1"/>
          <p:nvPr/>
        </p:nvSpPr>
        <p:spPr>
          <a:xfrm>
            <a:off x="2651750" y="1034846"/>
            <a:ext cx="9485964" cy="1193800"/>
          </a:xfrm>
          <a:prstGeom prst="rect">
            <a:avLst/>
          </a:prstGeom>
        </p:spPr>
        <p:txBody>
          <a:bodyPr lIns="0" tIns="0" rIns="0" bIns="0" rtlCol="0" anchor="t">
            <a:spAutoFit/>
          </a:bodyPr>
          <a:lstStyle/>
          <a:p>
            <a:pPr algn="l">
              <a:lnSpc>
                <a:spcPts val="9799"/>
              </a:lnSpc>
              <a:spcBef>
                <a:spcPct val="0"/>
              </a:spcBef>
            </a:pPr>
            <a:r>
              <a:rPr lang="en-US" sz="6999">
                <a:solidFill>
                  <a:srgbClr val="000000"/>
                </a:solidFill>
                <a:latin typeface="Montserrat"/>
                <a:ea typeface="Montserrat"/>
                <a:cs typeface="Montserrat"/>
                <a:sym typeface="Montserrat"/>
              </a:rPr>
              <a:t>SUMMARY</a:t>
            </a:r>
          </a:p>
        </p:txBody>
      </p:sp>
      <p:sp>
        <p:nvSpPr>
          <p:cNvPr id="4" name="TextBox 4"/>
          <p:cNvSpPr txBox="1"/>
          <p:nvPr/>
        </p:nvSpPr>
        <p:spPr>
          <a:xfrm>
            <a:off x="2985099" y="3526114"/>
            <a:ext cx="14116476" cy="6155690"/>
          </a:xfrm>
          <a:prstGeom prst="rect">
            <a:avLst/>
          </a:prstGeom>
        </p:spPr>
        <p:txBody>
          <a:bodyPr lIns="0" tIns="0" rIns="0" bIns="0" rtlCol="0" anchor="t">
            <a:spAutoFit/>
          </a:bodyPr>
          <a:lstStyle/>
          <a:p>
            <a:pPr marL="626107" lvl="1" indent="-313054" algn="l">
              <a:lnSpc>
                <a:spcPts val="4059"/>
              </a:lnSpc>
              <a:buFont typeface="Arial"/>
              <a:buChar char="•"/>
            </a:pPr>
            <a:r>
              <a:rPr lang="en-US" sz="2899">
                <a:solidFill>
                  <a:srgbClr val="000000"/>
                </a:solidFill>
                <a:latin typeface="Open Sans"/>
                <a:ea typeface="Open Sans"/>
                <a:cs typeface="Open Sans"/>
                <a:sym typeface="Open Sans"/>
              </a:rPr>
              <a:t>Businesses, especially small enterprises, are important segments of our society. </a:t>
            </a:r>
          </a:p>
          <a:p>
            <a:pPr marL="626107" lvl="1" indent="-313054" algn="l">
              <a:lnSpc>
                <a:spcPts val="4059"/>
              </a:lnSpc>
              <a:buFont typeface="Arial"/>
              <a:buChar char="•"/>
            </a:pPr>
            <a:r>
              <a:rPr lang="en-US" sz="2899">
                <a:solidFill>
                  <a:srgbClr val="000000"/>
                </a:solidFill>
                <a:latin typeface="Open Sans"/>
                <a:ea typeface="Open Sans"/>
                <a:cs typeface="Open Sans"/>
                <a:sym typeface="Open Sans"/>
              </a:rPr>
              <a:t>A small business is one which is independently owned and which is not domi-nant in its field of operation. Small business may be classified as manufacturing, service, wholesaling, retail-ing, and general construction firms. </a:t>
            </a:r>
          </a:p>
          <a:p>
            <a:pPr marL="626107" lvl="1" indent="-313054" algn="l">
              <a:lnSpc>
                <a:spcPts val="4059"/>
              </a:lnSpc>
              <a:buFont typeface="Arial"/>
              <a:buChar char="•"/>
            </a:pPr>
            <a:r>
              <a:rPr lang="en-US" sz="2899">
                <a:solidFill>
                  <a:srgbClr val="000000"/>
                </a:solidFill>
                <a:latin typeface="Open Sans"/>
                <a:ea typeface="Open Sans"/>
                <a:cs typeface="Open Sans"/>
                <a:sym typeface="Open Sans"/>
              </a:rPr>
              <a:t>Small businesses are characterized by the following: independent management, small capital requirements, and mostly local operation. </a:t>
            </a:r>
          </a:p>
          <a:p>
            <a:pPr marL="626107" lvl="1" indent="-313054" algn="l">
              <a:lnSpc>
                <a:spcPts val="4059"/>
              </a:lnSpc>
              <a:buFont typeface="Arial"/>
              <a:buChar char="•"/>
            </a:pPr>
            <a:r>
              <a:rPr lang="en-US" sz="2899">
                <a:solidFill>
                  <a:srgbClr val="000000"/>
                </a:solidFill>
                <a:latin typeface="Open Sans"/>
                <a:ea typeface="Open Sans"/>
                <a:cs typeface="Open Sans"/>
                <a:sym typeface="Open Sans"/>
              </a:rPr>
              <a:t>Small businesses play an important role in the development of our economy. They provide economic opportunities for entrepreneurs, products and services to consum-ers and industrial users, services to other firms by way of distributing their products and services, payment of taxes to the government, and employment.</a:t>
            </a:r>
          </a:p>
        </p:txBody>
      </p:sp>
      <p:sp>
        <p:nvSpPr>
          <p:cNvPr id="5" name="Freeform 5"/>
          <p:cNvSpPr/>
          <p:nvPr/>
        </p:nvSpPr>
        <p:spPr>
          <a:xfrm>
            <a:off x="11141694" y="1168196"/>
            <a:ext cx="2852507" cy="2185396"/>
          </a:xfrm>
          <a:custGeom>
            <a:avLst/>
            <a:gdLst/>
            <a:ahLst/>
            <a:cxnLst/>
            <a:rect l="l" t="t" r="r" b="b"/>
            <a:pathLst>
              <a:path w="2852507" h="2185396">
                <a:moveTo>
                  <a:pt x="0" y="0"/>
                </a:moveTo>
                <a:lnTo>
                  <a:pt x="2852507" y="0"/>
                </a:lnTo>
                <a:lnTo>
                  <a:pt x="2852507" y="2185396"/>
                </a:lnTo>
                <a:lnTo>
                  <a:pt x="0" y="21853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6" name="Freeform 6"/>
          <p:cNvSpPr/>
          <p:nvPr/>
        </p:nvSpPr>
        <p:spPr>
          <a:xfrm>
            <a:off x="1214305" y="2057993"/>
            <a:ext cx="1437445" cy="5167917"/>
          </a:xfrm>
          <a:custGeom>
            <a:avLst/>
            <a:gdLst/>
            <a:ahLst/>
            <a:cxnLst/>
            <a:rect l="l" t="t" r="r" b="b"/>
            <a:pathLst>
              <a:path w="1437445" h="5167917">
                <a:moveTo>
                  <a:pt x="0" y="0"/>
                </a:moveTo>
                <a:lnTo>
                  <a:pt x="1437445" y="0"/>
                </a:lnTo>
                <a:lnTo>
                  <a:pt x="1437445" y="5167917"/>
                </a:lnTo>
                <a:lnTo>
                  <a:pt x="0" y="516791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9F8FF"/>
        </a:solidFill>
        <a:effectLst/>
      </p:bgPr>
    </p:bg>
    <p:spTree>
      <p:nvGrpSpPr>
        <p:cNvPr id="1" name=""/>
        <p:cNvGrpSpPr/>
        <p:nvPr/>
      </p:nvGrpSpPr>
      <p:grpSpPr>
        <a:xfrm>
          <a:off x="0" y="0"/>
          <a:ext cx="0" cy="0"/>
          <a:chOff x="0" y="0"/>
          <a:chExt cx="0" cy="0"/>
        </a:xfrm>
      </p:grpSpPr>
      <p:sp>
        <p:nvSpPr>
          <p:cNvPr id="2" name="Freeform 2"/>
          <p:cNvSpPr/>
          <p:nvPr/>
        </p:nvSpPr>
        <p:spPr>
          <a:xfrm>
            <a:off x="3820803" y="131302"/>
            <a:ext cx="10646394" cy="10713353"/>
          </a:xfrm>
          <a:custGeom>
            <a:avLst/>
            <a:gdLst/>
            <a:ahLst/>
            <a:cxnLst/>
            <a:rect l="l" t="t" r="r" b="b"/>
            <a:pathLst>
              <a:path w="10646394" h="10713353">
                <a:moveTo>
                  <a:pt x="0" y="0"/>
                </a:moveTo>
                <a:lnTo>
                  <a:pt x="10646394" y="0"/>
                </a:lnTo>
                <a:lnTo>
                  <a:pt x="10646394" y="10713353"/>
                </a:lnTo>
                <a:lnTo>
                  <a:pt x="0" y="10713353"/>
                </a:lnTo>
                <a:lnTo>
                  <a:pt x="0" y="0"/>
                </a:lnTo>
                <a:close/>
              </a:path>
            </a:pathLst>
          </a:custGeom>
          <a:blipFill>
            <a:blip r:embed="rId2"/>
            <a:stretch>
              <a:fillRect/>
            </a:stretch>
          </a:blipFill>
        </p:spPr>
        <p:txBody>
          <a:bodyPr/>
          <a:lstStyle/>
          <a:p>
            <a:endParaRPr lang="en-CA"/>
          </a:p>
        </p:txBody>
      </p:sp>
      <p:sp>
        <p:nvSpPr>
          <p:cNvPr id="3" name="Freeform 3"/>
          <p:cNvSpPr/>
          <p:nvPr/>
        </p:nvSpPr>
        <p:spPr>
          <a:xfrm>
            <a:off x="5486400" y="7848247"/>
            <a:ext cx="7315200" cy="1765792"/>
          </a:xfrm>
          <a:custGeom>
            <a:avLst/>
            <a:gdLst/>
            <a:ahLst/>
            <a:cxnLst/>
            <a:rect l="l" t="t" r="r" b="b"/>
            <a:pathLst>
              <a:path w="7315200" h="1765792">
                <a:moveTo>
                  <a:pt x="0" y="0"/>
                </a:moveTo>
                <a:lnTo>
                  <a:pt x="7315200" y="0"/>
                </a:lnTo>
                <a:lnTo>
                  <a:pt x="7315200" y="1765792"/>
                </a:lnTo>
                <a:lnTo>
                  <a:pt x="0" y="17657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TextBox 4"/>
          <p:cNvSpPr txBox="1"/>
          <p:nvPr/>
        </p:nvSpPr>
        <p:spPr>
          <a:xfrm>
            <a:off x="6183912" y="8070653"/>
            <a:ext cx="5920176" cy="1185848"/>
          </a:xfrm>
          <a:prstGeom prst="rect">
            <a:avLst/>
          </a:prstGeom>
        </p:spPr>
        <p:txBody>
          <a:bodyPr lIns="0" tIns="0" rIns="0" bIns="0" rtlCol="0" anchor="t">
            <a:spAutoFit/>
          </a:bodyPr>
          <a:lstStyle/>
          <a:p>
            <a:pPr algn="ctr">
              <a:lnSpc>
                <a:spcPts val="9710"/>
              </a:lnSpc>
              <a:spcBef>
                <a:spcPct val="0"/>
              </a:spcBef>
            </a:pPr>
            <a:r>
              <a:rPr lang="en-US" sz="6935" b="1">
                <a:solidFill>
                  <a:srgbClr val="000000"/>
                </a:solidFill>
                <a:latin typeface="Open Sans Bold"/>
                <a:ea typeface="Open Sans Bold"/>
                <a:cs typeface="Open Sans Bold"/>
                <a:sym typeface="Open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1338</Words>
  <Application>Microsoft Office PowerPoint</Application>
  <PresentationFormat>Custom</PresentationFormat>
  <Paragraphs>89</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Open Sans Bold</vt:lpstr>
      <vt:lpstr>Montserrat Bold</vt:lpstr>
      <vt:lpstr>Montserrat</vt:lpstr>
      <vt:lpstr>Open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Illustrative Group Project Presentation</dc:title>
  <cp:lastModifiedBy>Crysta Joy Herda</cp:lastModifiedBy>
  <cp:revision>1</cp:revision>
  <dcterms:created xsi:type="dcterms:W3CDTF">2006-08-16T00:00:00Z</dcterms:created>
  <dcterms:modified xsi:type="dcterms:W3CDTF">2025-09-27T23:42:37Z</dcterms:modified>
  <dc:identifier>DAG0Icdx4uU</dc:identifier>
</cp:coreProperties>
</file>